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ef3849b79f4157" /><Relationship Type="http://schemas.openxmlformats.org/officeDocument/2006/relationships/extended-properties" Target="/docProps/app.xml" Id="R0f3b0b8e98a44150" /><Relationship Type="http://schemas.openxmlformats.org/officeDocument/2006/relationships/officeDocument" Target="/ppt/presentation.xml" Id="R34e2c8d7e21a40ff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eda2cec1d8d34c01"/>
  </p:sldMasterIdLst>
  <p:notesMasterIdLst>
    <p:notesMasterId xmlns:r="http://schemas.openxmlformats.org/officeDocument/2006/relationships" r:id="R5bfa1fac371f41e1"/>
  </p:notesMasterIdLst>
  <p:sldIdLst>
    <p:sldId xmlns:r="http://schemas.openxmlformats.org/officeDocument/2006/relationships" id="256" r:id="R09b3fb2726064a12"/>
    <p:sldId xmlns:r="http://schemas.openxmlformats.org/officeDocument/2006/relationships" id="257" r:id="R0df2eb4cb4094d8b"/>
    <p:sldId xmlns:r="http://schemas.openxmlformats.org/officeDocument/2006/relationships" id="258" r:id="R2438bfd5baca4bea"/>
    <p:sldId xmlns:r="http://schemas.openxmlformats.org/officeDocument/2006/relationships" id="259" r:id="R88146be8a7bb446e"/>
    <p:sldId xmlns:r="http://schemas.openxmlformats.org/officeDocument/2006/relationships" id="260" r:id="R30f72b09b0c04ac2"/>
    <p:sldId xmlns:r="http://schemas.openxmlformats.org/officeDocument/2006/relationships" id="261" r:id="R8d50431a66cd4b13"/>
  </p:sldIdLst>
  <p:sldSz cx="12192000" cy="6858000"/>
  <p:notesSz cx="6858000" cy="9144000"/>
  <p:embeddedFontLst>
    <p:embeddedFont>
      <p:font typeface="Lora Medium"/>
      <p:regular xmlns:r="http://schemas.openxmlformats.org/officeDocument/2006/relationships" r:id="R8d6f33fda14e47a7"/>
      <p:italic xmlns:r="http://schemas.openxmlformats.org/officeDocument/2006/relationships" r:id="Radada2de58b241b7"/>
    </p:embeddedFont>
    <p:embeddedFont>
      <p:font typeface="Lora SemiBold"/>
      <p:regular xmlns:r="http://schemas.openxmlformats.org/officeDocument/2006/relationships" r:id="R1321918094704535"/>
      <p:bold xmlns:r="http://schemas.openxmlformats.org/officeDocument/2006/relationships" r:id="R3d8b91f20a9e4283"/>
      <p:italic xmlns:r="http://schemas.openxmlformats.org/officeDocument/2006/relationships" r:id="R7fa7d9b24c684335"/>
      <p:boldItalic xmlns:r="http://schemas.openxmlformats.org/officeDocument/2006/relationships" r:id="Rf5ed803d23bb482e"/>
    </p:embeddedFont>
    <p:embeddedFont>
      <p:font typeface="OpenAI Sans"/>
      <p:regular xmlns:r="http://schemas.openxmlformats.org/officeDocument/2006/relationships" r:id="R0a8bcd06782b4c76"/>
      <p:bold xmlns:r="http://schemas.openxmlformats.org/officeDocument/2006/relationships" r:id="R9ae2a03d6dfe4877"/>
      <p:italic xmlns:r="http://schemas.openxmlformats.org/officeDocument/2006/relationships" r:id="R0dcc5658f24c4109"/>
      <p:boldItalic xmlns:r="http://schemas.openxmlformats.org/officeDocument/2006/relationships" r:id="R4608b5d757834b02"/>
    </p:embeddedFont>
    <p:embeddedFont>
      <p:font typeface="Roboto"/>
      <p:regular xmlns:r="http://schemas.openxmlformats.org/officeDocument/2006/relationships" r:id="Ra6300a83967c4ff6"/>
      <p:bold xmlns:r="http://schemas.openxmlformats.org/officeDocument/2006/relationships" r:id="R4940d9952f3046eb"/>
      <p:italic xmlns:r="http://schemas.openxmlformats.org/officeDocument/2006/relationships" r:id="R3d0dc491c17a465a"/>
      <p:boldItalic xmlns:r="http://schemas.openxmlformats.org/officeDocument/2006/relationships" r:id="R191561e27afd47e0"/>
    </p:embeddedFont>
    <p:embeddedFont>
      <p:font typeface="Roboto Medium"/>
      <p:regular xmlns:r="http://schemas.openxmlformats.org/officeDocument/2006/relationships" r:id="Rd5427253460c4507"/>
      <p:italic xmlns:r="http://schemas.openxmlformats.org/officeDocument/2006/relationships" r:id="Ra6ffb8351b25417f"/>
    </p:embeddedFont>
    <p:embeddedFont>
      <p:font typeface="Roboto SemiBold"/>
      <p:regular xmlns:r="http://schemas.openxmlformats.org/officeDocument/2006/relationships" r:id="Ra9980eac1a2d4665"/>
      <p:bold xmlns:r="http://schemas.openxmlformats.org/officeDocument/2006/relationships" r:id="R668f373b0aab44cf"/>
      <p:italic xmlns:r="http://schemas.openxmlformats.org/officeDocument/2006/relationships" r:id="R9c0f8232a6614daf"/>
      <p:boldItalic xmlns:r="http://schemas.openxmlformats.org/officeDocument/2006/relationships" r:id="Ra8f1843ab6db4aa5"/>
    </p:embeddedFont>
    <p:embeddedFont>
      <p:font typeface="Roboto Serif 14pt"/>
      <p:regular xmlns:r="http://schemas.openxmlformats.org/officeDocument/2006/relationships" r:id="R3b251a2a501e4a1b"/>
      <p:bold xmlns:r="http://schemas.openxmlformats.org/officeDocument/2006/relationships" r:id="Rbcf0d0a5b2804269"/>
      <p:italic xmlns:r="http://schemas.openxmlformats.org/officeDocument/2006/relationships" r:id="R20b2f5a90cc54799"/>
      <p:boldItalic xmlns:r="http://schemas.openxmlformats.org/officeDocument/2006/relationships" r:id="R1b4d18e8f37849a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45c43e3989f4e15" /><Relationship Type="http://schemas.openxmlformats.org/officeDocument/2006/relationships/slideMaster" Target="/ppt/slideMasters/slideMaster1.xml" Id="Reda2cec1d8d34c01" /><Relationship Type="http://schemas.openxmlformats.org/officeDocument/2006/relationships/notesMaster" Target="/ppt/notesMasters/notesMaster1.xml" Id="R5bfa1fac371f41e1" /><Relationship Type="http://schemas.openxmlformats.org/officeDocument/2006/relationships/presProps" Target="/ppt/presProps.xml" Id="Rd07861376cd3439c" /><Relationship Type="http://schemas.openxmlformats.org/officeDocument/2006/relationships/viewProps" Target="/ppt/viewProps.xml" Id="Rdc06cac90b2c4063" /><Relationship Type="http://schemas.openxmlformats.org/officeDocument/2006/relationships/tableStyles" Target="/ppt/tableStyles.xml" Id="R1d1d8c3a69c842a9" /><Relationship Type="http://schemas.openxmlformats.org/officeDocument/2006/relationships/font" Target="/ppt/fonts/font.dat" Id="R8d6f33fda14e47a7" /><Relationship Type="http://schemas.openxmlformats.org/officeDocument/2006/relationships/font" Target="/ppt/fonts/font2.dat" Id="Radada2de58b241b7" /><Relationship Type="http://schemas.openxmlformats.org/officeDocument/2006/relationships/font" Target="/ppt/fonts/font3.dat" Id="R1321918094704535" /><Relationship Type="http://schemas.openxmlformats.org/officeDocument/2006/relationships/font" Target="/ppt/fonts/font4.dat" Id="R3d8b91f20a9e4283" /><Relationship Type="http://schemas.openxmlformats.org/officeDocument/2006/relationships/font" Target="/ppt/fonts/font5.dat" Id="R7fa7d9b24c684335" /><Relationship Type="http://schemas.openxmlformats.org/officeDocument/2006/relationships/font" Target="/ppt/fonts/font6.dat" Id="Rf5ed803d23bb482e" /><Relationship Type="http://schemas.openxmlformats.org/officeDocument/2006/relationships/font" Target="/ppt/fonts/font7.dat" Id="R0a8bcd06782b4c76" /><Relationship Type="http://schemas.openxmlformats.org/officeDocument/2006/relationships/font" Target="/ppt/fonts/font8.dat" Id="R9ae2a03d6dfe4877" /><Relationship Type="http://schemas.openxmlformats.org/officeDocument/2006/relationships/font" Target="/ppt/fonts/font9.dat" Id="R0dcc5658f24c4109" /><Relationship Type="http://schemas.openxmlformats.org/officeDocument/2006/relationships/font" Target="/ppt/fonts/font10.dat" Id="R4608b5d757834b02" /><Relationship Type="http://schemas.openxmlformats.org/officeDocument/2006/relationships/font" Target="/ppt/fonts/font11.dat" Id="Ra6300a83967c4ff6" /><Relationship Type="http://schemas.openxmlformats.org/officeDocument/2006/relationships/font" Target="/ppt/fonts/font12.dat" Id="R4940d9952f3046eb" /><Relationship Type="http://schemas.openxmlformats.org/officeDocument/2006/relationships/font" Target="/ppt/fonts/font13.dat" Id="R3d0dc491c17a465a" /><Relationship Type="http://schemas.openxmlformats.org/officeDocument/2006/relationships/font" Target="/ppt/fonts/font14.dat" Id="R191561e27afd47e0" /><Relationship Type="http://schemas.openxmlformats.org/officeDocument/2006/relationships/font" Target="/ppt/fonts/font15.dat" Id="Rd5427253460c4507" /><Relationship Type="http://schemas.openxmlformats.org/officeDocument/2006/relationships/font" Target="/ppt/fonts/font16.dat" Id="Ra6ffb8351b25417f" /><Relationship Type="http://schemas.openxmlformats.org/officeDocument/2006/relationships/font" Target="/ppt/fonts/font17.dat" Id="Ra9980eac1a2d4665" /><Relationship Type="http://schemas.openxmlformats.org/officeDocument/2006/relationships/font" Target="/ppt/fonts/font18.dat" Id="R668f373b0aab44cf" /><Relationship Type="http://schemas.openxmlformats.org/officeDocument/2006/relationships/font" Target="/ppt/fonts/font19.dat" Id="R9c0f8232a6614daf" /><Relationship Type="http://schemas.openxmlformats.org/officeDocument/2006/relationships/font" Target="/ppt/fonts/font20.dat" Id="Ra8f1843ab6db4aa5" /><Relationship Type="http://schemas.openxmlformats.org/officeDocument/2006/relationships/font" Target="/ppt/fonts/font21.dat" Id="R3b251a2a501e4a1b" /><Relationship Type="http://schemas.openxmlformats.org/officeDocument/2006/relationships/font" Target="/ppt/fonts/font22.dat" Id="Rbcf0d0a5b2804269" /><Relationship Type="http://schemas.openxmlformats.org/officeDocument/2006/relationships/font" Target="/ppt/fonts/font23.dat" Id="R20b2f5a90cc54799" /><Relationship Type="http://schemas.openxmlformats.org/officeDocument/2006/relationships/font" Target="/ppt/fonts/font24.dat" Id="R1b4d18e8f37849aa" /><Relationship Type="http://schemas.openxmlformats.org/officeDocument/2006/relationships/slide" Target="/ppt/slides/slide1.xml" Id="R09b3fb2726064a12" /><Relationship Type="http://schemas.openxmlformats.org/officeDocument/2006/relationships/slide" Target="/ppt/slides/slide2.xml" Id="R0df2eb4cb4094d8b" /><Relationship Type="http://schemas.openxmlformats.org/officeDocument/2006/relationships/slide" Target="/ppt/slides/slide3.xml" Id="R2438bfd5baca4bea" /><Relationship Type="http://schemas.openxmlformats.org/officeDocument/2006/relationships/slide" Target="/ppt/slides/slide4.xml" Id="R88146be8a7bb446e" /><Relationship Type="http://schemas.openxmlformats.org/officeDocument/2006/relationships/slide" Target="/ppt/slides/slide5.xml" Id="R30f72b09b0c04ac2" /><Relationship Type="http://schemas.openxmlformats.org/officeDocument/2006/relationships/slide" Target="/ppt/slides/slide6.xml" Id="R8d50431a66cd4b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d740d035654b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0881a591cdb4b1e" /><Relationship Type="http://schemas.openxmlformats.org/officeDocument/2006/relationships/notesMaster" Target="/ppt/notesMasters/notesMaster1.xml" Id="Rfb8a15921a1148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5655ba64314b99" /><Relationship Type="http://schemas.openxmlformats.org/officeDocument/2006/relationships/notesMaster" Target="/ppt/notesMasters/notesMaster1.xml" Id="R7f00498dacd247c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4640c46d984e46" /><Relationship Type="http://schemas.openxmlformats.org/officeDocument/2006/relationships/notesMaster" Target="/ppt/notesMasters/notesMaster1.xml" Id="R04e1148b2f6841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8f774b0234b2d" /><Relationship Type="http://schemas.openxmlformats.org/officeDocument/2006/relationships/notesMaster" Target="/ppt/notesMasters/notesMaster1.xml" Id="R075c40bc951345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2e479167064095" /><Relationship Type="http://schemas.openxmlformats.org/officeDocument/2006/relationships/notesMaster" Target="/ppt/notesMasters/notesMaster1.xml" Id="R41a9b1137baf49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8d10668da143eb" /><Relationship Type="http://schemas.openxmlformats.org/officeDocument/2006/relationships/notesMaster" Target="/ppt/notesMasters/notesMaster1.xml" Id="R38c113b8465c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de39e98e3346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5e96115284a2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8cfab2dc24f8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e2b4d3a24b400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9c3a02837467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99d3a2b9e24b2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12aae93ea437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92cedaabd4635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 b="1" i="0">
                <a:latin typeface="Lora SemiBold"/>
                <a:ea typeface="Lora SemiBold"/>
                <a:cs typeface="Lora SemiBold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129411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87051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4930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846664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699" y="6279294"/>
            <a:ext cx="7361767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87544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8a9a5494434ed6" /><Relationship Type="http://schemas.openxmlformats.org/officeDocument/2006/relationships/slideLayout" Target="/ppt/slideLayouts/slideLayout1.xml" Id="Rf79d0fa309904742" /><Relationship Type="http://schemas.openxmlformats.org/officeDocument/2006/relationships/slideLayout" Target="/ppt/slideLayouts/slideLayout2.xml" Id="R98ed72cc15e64c9a" /><Relationship Type="http://schemas.openxmlformats.org/officeDocument/2006/relationships/slideLayout" Target="/ppt/slideLayouts/slideLayout3.xml" Id="R8c2c0a00ce304266" /><Relationship Type="http://schemas.openxmlformats.org/officeDocument/2006/relationships/slideLayout" Target="/ppt/slideLayouts/slideLayout4.xml" Id="R23ecf2bc926d4b9f" /><Relationship Type="http://schemas.openxmlformats.org/officeDocument/2006/relationships/slideLayout" Target="/ppt/slideLayouts/slideLayout5.xml" Id="Rfd4cc9bd38e845e3" /><Relationship Type="http://schemas.openxmlformats.org/officeDocument/2006/relationships/slideLayout" Target="/ppt/slideLayouts/slideLayout6.xml" Id="Rb5bc98bde90345ee" /><Relationship Type="http://schemas.openxmlformats.org/officeDocument/2006/relationships/slideLayout" Target="/ppt/slideLayouts/slideLayout7.xml" Id="R2aff9f4d2ea04728" /><Relationship Type="http://schemas.openxmlformats.org/officeDocument/2006/relationships/slideLayout" Target="/ppt/slideLayouts/slideLayout8.xml" Id="Rf7ec0118bf0045e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294"/>
            <a:ext cx="7531100" cy="2418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9d0fa309904742"/>
    <p:sldLayoutId xmlns:r="http://schemas.openxmlformats.org/officeDocument/2006/relationships" id="2147483650" r:id="R98ed72cc15e64c9a"/>
    <p:sldLayoutId xmlns:r="http://schemas.openxmlformats.org/officeDocument/2006/relationships" id="2147483651" r:id="R8c2c0a00ce304266"/>
    <p:sldLayoutId xmlns:r="http://schemas.openxmlformats.org/officeDocument/2006/relationships" id="2147483652" r:id="R23ecf2bc926d4b9f"/>
    <p:sldLayoutId xmlns:r="http://schemas.openxmlformats.org/officeDocument/2006/relationships" id="2147483653" r:id="Rfd4cc9bd38e845e3"/>
    <p:sldLayoutId xmlns:r="http://schemas.openxmlformats.org/officeDocument/2006/relationships" id="2147483654" r:id="Rb5bc98bde90345ee"/>
    <p:sldLayoutId xmlns:r="http://schemas.openxmlformats.org/officeDocument/2006/relationships" id="2147483655" r:id="R2aff9f4d2ea04728"/>
    <p:sldLayoutId xmlns:r="http://schemas.openxmlformats.org/officeDocument/2006/relationships" id="2147483656" r:id="Rf7ec0118bf0045ee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b="1" i="0" kern="1200">
          <a:solidFill>
            <a:schemeClr val="tx1"/>
          </a:solidFill>
          <a:latin typeface="Lora SemiBold"/>
          <a:ea typeface="Lora SemiBold"/>
          <a:cs typeface="Lora SemiBold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520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Theme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ceb6057db453b" /><Relationship Type="http://schemas.openxmlformats.org/officeDocument/2006/relationships/notesSlide" Target="/ppt/notesSlides/notesSlide1.xml" Id="Rd4a76c7651b841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3c927921cf04f8e" /><Relationship Type="http://schemas.openxmlformats.org/officeDocument/2006/relationships/notesSlide" Target="/ppt/notesSlides/notesSlide2.xml" Id="Rd4f9e7ec1f5847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58ca402d064042" /><Relationship Type="http://schemas.openxmlformats.org/officeDocument/2006/relationships/notesSlide" Target="/ppt/notesSlides/notesSlide3.xml" Id="R60978577c4a14b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f98b5f72d74383" /><Relationship Type="http://schemas.openxmlformats.org/officeDocument/2006/relationships/notesSlide" Target="/ppt/notesSlides/notesSlide4.xml" Id="R8acddf6d1e1d4e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fdf6f185874e91" /><Relationship Type="http://schemas.openxmlformats.org/officeDocument/2006/relationships/notesSlide" Target="/ppt/notesSlides/notesSlide5.xml" Id="Ra2e5709ccf964c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eb8a27b6fe4f4f" /><Relationship Type="http://schemas.openxmlformats.org/officeDocument/2006/relationships/notesSlide" Target="/ppt/notesSlides/notesSlide6.xml" Id="Rfde6a93734874dd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SwarmOps product review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A safer visual path from a newly enrolled server to Docker, Swarm, network controls, and its first dependable command.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AUGUST 2026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Nim Platform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CF6FE515-092A-4C55-A548-FBCE712B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E379D05-14A1-4DE1-BCD3-E504FBA6B3F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699" y="2812968"/>
            <a:ext cx="5537200" cy="1865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console now guides operators through discovery, readiness, review, deployment, and follow-through. New servers can be prepared without opening a browser shell or accepting arbitrary host commands.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C7C2A8C-5DAF-4D3D-BA7A-98B27702AAF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CBAEABBA-AD62-52D1-5588-17C604158753}" type="slidenum">
              <a:t>02</a:t>
            </a:fld>
            <a:endParaRPr/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3548D03-1D0F-655D-DD48-D4BF5C80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111025"/>
            <a:ext cx="1844403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Quarter status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051D0BE-5D22-BCB4-EADF-44F16643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826992"/>
            <a:ext cx="5537200" cy="10010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Preparation is a bounded, auditable intent: install or update Docker, update the OS, initialise Swarm, and apply a CIDR-scoped UFW plan.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E26938C-7FB7-798D-7C48-98893273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2344035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The single most important change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0" name="Title 2">
            <a:extLst xmlns:a="http://schemas.openxmlformats.org/drawingml/2006/main">
              <a:ext uri="{FF2B5EF4-FFF2-40B4-BE49-F238E27FC236}">
                <a16:creationId xmlns:a16="http://schemas.microsoft.com/office/drawing/2014/main" id="{944AF173-BF22-B5ED-B88F-9080D8699E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1046195"/>
            <a:ext cx="11403610" cy="62381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The product path is now explicit</a:t>
            </a:r>
          </a:p>
        </p:txBody>
      </p:sp>
      <p:sp>
        <p:nvSpPr>
          <p:cNvPr id="11" name="Subtitle 4">
            <a:extLst xmlns:a="http://schemas.openxmlformats.org/drawingml/2006/main">
              <a:ext uri="{FF2B5EF4-FFF2-40B4-BE49-F238E27FC236}">
                <a16:creationId xmlns:a16="http://schemas.microsoft.com/office/drawing/2014/main" id="{42E9C51D-AB09-8D83-4157-006D5713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2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EXECUTIVE SUMMARY</a:t>
            </a:r>
          </a:p>
        </p:txBody>
      </p:sp>
      <p:sp>
        <p:nvSpPr>
          <p:cNvPr id="15" name="Straight Connector 14">
            <a:extLst xmlns:a="http://schemas.openxmlformats.org/drawingml/2006/main">
              <a:ext uri="{FF2B5EF4-FFF2-40B4-BE49-F238E27FC236}">
                <a16:creationId xmlns:a16="http://schemas.microsoft.com/office/drawing/2014/main" id="{75924091-9E26-4920-BA1C-12113D43C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39769"/>
            <a:ext cx="55372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08E1773-B682-C5EE-6944-58546A38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867987"/>
            <a:ext cx="5537200" cy="12002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Approve one non-critical host trial during a maintenance window, with a named controller-CIDR owner and recovery observer.</a:t>
            </a: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1C1F2FD8-0D30-C7BF-5234-6F0EE46F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109" y="4385030"/>
            <a:ext cx="5537200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Decision requested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F16B487F-1A7A-C301-4AB8-8DC1C1983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9499" y="2093356"/>
            <a:ext cx="2271780" cy="402442"/>
          </a:xfrm>
          <a:prstGeom xmlns:a="http://schemas.openxmlformats.org/drawingml/2006/main" prst="roundRect">
            <a:avLst>
              <a:gd name="adj" fmla="val 15738"/>
            </a:avLst>
          </a:prstGeom>
          <a:solidFill xmlns:a="http://schemas.openxmlformats.org/drawingml/2006/main">
            <a:schemeClr val="accent1">
              <a:alpha val="24648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>
                <a:solidFill>
                  <a:schemeClr val="accent1"/>
                </a:solidFill>
              </a:rPr>
              <a:t>LOCAL PROOF COMPLETE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3AF61EC-DBA0-BFB1-3293-0BF5DB67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4756098"/>
            <a:ext cx="5537199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Bottom line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47E14DB1-10CD-1A00-06DC-F11F9056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251" y="5134071"/>
            <a:ext cx="5537200" cy="8603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UI is ready for real operators; the remaining proof is deliberately live-host validation, not more dashboard polish.</a:t>
            </a:r>
          </a:p>
        </p:txBody>
      </p:sp>
    </p:spTree>
    <p:extLst>
      <p:ext uri="{BB962C8B-B14F-4D97-AF65-F5344CB8AC3E}">
        <p14:creationId xmlns:p14="http://schemas.microsoft.com/office/powerpoint/2010/main" val="8531876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AD38C25-48AC-5A29-D53A-82080FAF92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0BADEEDC-EEE1-8597-0639-A35D9BA153EC}" type="slidenum">
              <a:t>03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3E8FE18-95DE-C7EA-9E95-10B8218936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What the product now protects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E3149F3-A7D7-BC8F-C84C-4A4E60EA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CD1077A-BBDF-3B07-D940-FA5482CB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253749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54A841D-1EA0-6181-C778-7C851CA6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Read OS, Docker, Swarm, and firewall state before offering an action.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B4E203EC-EB81-96EF-66AB-3B6012B4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12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000F722-C0CE-FDAF-EAFE-20BC4A7F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43" y="4370106"/>
            <a:ext cx="5533887" cy="16383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F393FB38-1005-6250-1642-93C1A76E0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649094"/>
            <a:ext cx="11404600" cy="6340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Every readiness action is assembled from a fixed typed plan, persisted before acknowledgement, and shown in its server context.</a:t>
            </a:r>
          </a:p>
        </p:txBody>
      </p:sp>
      <p:sp>
        <p:nvSpPr>
          <p:cNvPr id="1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A0F4C075-109A-7DDE-18C9-18F12855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14656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FOUR PRINCIPLES</a:t>
            </a:r>
            <a:endParaRPr sz="2000">
              <a:latin typeface="+mj-lt"/>
              <a:ea typeface="+mj-lt"/>
              <a:cs typeface="+mj-lt"/>
            </a:endParaR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9DCE927-F1A4-A9ED-C839-844BB688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Start with evidence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71DDDF3-A6F6-A2D9-7F68-A246AE82F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325089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 pending action with the same server, action, and target removes the older queued copy.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D06467-8163-39A0-0B9A-1A98533B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279380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Keep the newest intent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61F5831-A6CA-0036-3E5C-283D4EB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Agent requests traverse a private Unix socket into a fixed allow-list, not a shell.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283300B-2E76-54E3-B3E8-C4CE0DA3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6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Constrain host power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1E87E4E-34C4-73A3-D9B4-5528035E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438" y="5094931"/>
            <a:ext cx="498688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6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Local checks are complete; a non-critical host trial remains an explicit release gate.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BBBD727-79F1-2502-A083-A18F5A75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5127" y="4637848"/>
            <a:ext cx="4986886" cy="312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8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Keep live proof separate</a:t>
            </a:r>
          </a:p>
        </p:txBody>
      </p:sp>
    </p:spTree>
    <p:extLst>
      <p:ext uri="{BB962C8B-B14F-4D97-AF65-F5344CB8AC3E}">
        <p14:creationId xmlns:p14="http://schemas.microsoft.com/office/powerpoint/2010/main" val="21795353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F9970F6C-59B2-055B-5132-2DC31A7003A7}" type="slidenum">
              <a:t>04</a:t>
            </a:fld>
            <a:endParaRPr/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Readiness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Inspect supported OS, Docker Engine, Swarm mode, and UFW before selecting work.</a:t>
            </a:r>
            <a:endParaRPr sz="1600"/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Durable queue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The exact operation is persisted before acknowledgement; the newest unstarted equivalent intent wins.</a:t>
            </a:r>
            <a:endParaRPr sz="1600"/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2F7C895E-DE9C-ED5D-5936-715D047B6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7556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The operator experience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49F3E50-E7DD-037F-1687-7A3A084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7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6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895137EF-1168-9543-8134-200AA74D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6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schemeClr val="accent1"/>
                </a:solidFill>
                <a:latin typeface="Roboto Medium"/>
                <a:ea typeface="Roboto Medium"/>
                <a:cs typeface="Roboto Medium"/>
              </a:rPr>
              <a:t>Root helper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solidFill>
                  <a:prstClr val="black"/>
                </a:solidFill>
              </a:rPr>
              <a:t>The regular agent stays unprivileged. A local, bounded helper performs only approved actions.</a:t>
            </a:r>
            <a:endParaRPr sz="1600"/>
          </a:p>
        </p:txBody>
      </p:sp>
      <p:sp>
        <p:nvSpPr>
          <p:cNvPr id="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926CAA1-5F44-3769-A410-E058BAE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208EF3D1-5C57-8D4F-49C8-21BD74420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820543"/>
            <a:ext cx="11404600" cy="13266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A visually guided readiness flow puts the current state, requested change, queue status, and blockers in one place.</a:t>
            </a:r>
          </a:p>
        </p:txBody>
      </p:sp>
      <p:sp>
        <p:nvSpPr>
          <p:cNvPr id="18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3CCF932-231F-7EA0-6520-FFB192B4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1318016"/>
            <a:ext cx="11404599" cy="4024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2000">
                <a:latin typeface="+mj-lt"/>
                <a:ea typeface="+mj-lt"/>
                <a:cs typeface="+mj-lt"/>
              </a:rPr>
              <a:t>ONE CONSOLE, THREE SAFETY LAYERS</a:t>
            </a:r>
            <a:endParaRPr sz="2000">
              <a:latin typeface="+mj-lt"/>
              <a:ea typeface="+mj-lt"/>
              <a:cs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6AD4425-62A5-20FE-DA81-DB0262F8E9D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5370F4AC-E6D1-01EE-6732-05F7C8E78B55}" type="slidenum">
              <a:t>05</a:t>
            </a:fld>
            <a:endParaRPr/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CCB3C549-3412-D9EC-FC96-8C0EA25A43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699" y="344009"/>
            <a:ext cx="11404599" cy="5957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accent1"/>
                </a:solidFill>
              </a:rPr>
              <a:t>Proof gates before wider rollout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076E58D8-94E3-59EF-6F5D-94479531D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374900"/>
            <a:ext cx="5537200" cy="361949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next decision is not whether to add more host commands. It is whether one controlled host meets the expected readiness evidence, firewall reachability, and recovery expectations.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EC39CC4A-7702-F34C-BFC1-C34643FF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436666"/>
            <a:ext cx="5537200" cy="7193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2000">
                <a:latin typeface="+mj-lt"/>
                <a:ea typeface="+mj-lt"/>
                <a:cs typeface="+mj-lt"/>
              </a:rPr>
              <a:t>MAINTENANCE-WINDOW SEQUENCE</a:t>
            </a:r>
          </a:p>
        </p:txBody>
      </p:sp>
      <p:sp>
        <p:nvSpPr>
          <p:cNvPr id="2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4FA777D-1E43-2118-018B-D684DB7E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218425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Choose a non-critical Debian or Ubuntu host, controller CIDRs, and peer CIDRs.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2F01BD9-1359-C69B-3F1A-A36534227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181325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1 — Confirm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C99D68F-34ED-A722-D7DB-03942B0B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152193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4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2674159-B6E6-B9EF-D753-5EF1E687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4" y="369301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Queue only the selected Docker, OS, Swarm, and UFW operations; record the result.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7D84212-7716-6AFC-2CCA-1118E418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3" y="332201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2 — Prepare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20BED9B-3AD0-B986-23FF-346EFF8E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2" y="303069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  <p:sp>
        <p:nvSpPr>
          <p:cNvPr id="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8865802-6967-7210-3371-DEA6828B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105" y="5201772"/>
            <a:ext cx="5014766" cy="59753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latin typeface="Helvetica Neue"/>
                <a:ea typeface="Helvetica Neue"/>
                <a:cs typeface="Helvetica Neue"/>
              </a:rPr>
              <a:t>Verify endpoint status, audit trail, queue completion, and the operator recovery path before reuse.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D2FEB2E-B2D7-376B-AFC1-B25E2E37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4794" y="4830775"/>
            <a:ext cx="5014766" cy="2432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FontTx/>
              <a:buNone/>
            </a:pPr>
            <a:r>
              <a:rPr sz="1400" b="0" i="0" u="none" cap="none" spc="0">
                <a:ln>
                  <a:noFill/>
                </a:ln>
                <a:solidFill>
                  <a:srgbClr val="3357B8"/>
                </a:solidFill>
                <a:latin typeface="Helvetica Neue Medium"/>
                <a:ea typeface="Helvetica Neue Medium"/>
                <a:cs typeface="Helvetica Neue Medium"/>
              </a:rPr>
              <a:t>3 — Review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95C5540-5014-B354-3651-51BA1275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843" y="4539455"/>
            <a:ext cx="5394187" cy="1393857"/>
          </a:xfrm>
          <a:prstGeom xmlns:a="http://schemas.openxmlformats.org/drawingml/2006/main" prst="roundRect">
            <a:avLst>
              <a:gd name="adj" fmla="val 3585"/>
            </a:avLst>
          </a:prstGeom>
          <a:noFill xmlns:a="http://schemas.openxmlformats.org/drawingml/2006/main"/>
          <a:ln xmlns:a="http://schemas.openxmlformats.org/drawingml/2006/main" w="12700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614037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706809B0-D483-45C1-B580-B57BB5CC520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9969" y="1444887"/>
            <a:ext cx="9448800" cy="172646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r>
              <a:rPr sz="5500">
                <a:solidFill>
                  <a:schemeClr val="accent1"/>
                </a:solidFill>
                <a:latin typeface="Lora Medium"/>
                <a:ea typeface="Lora Medium"/>
                <a:cs typeface="Lora Medium"/>
              </a:rPr>
              <a:t>Approve a controlled first-host trial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D11E6E-01C0-D6E4-28D7-D7F6B94AF61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03019" y="5077241"/>
            <a:ext cx="6304556" cy="10762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chemeClr val="accent2">
                    <a:lumMod val="50000"/>
                  </a:schemeClr>
                </a:solidFill>
              </a:rPr>
              <a:t>Narrow scope: one non-critical server, named CIDR ownership, a maintenance window, and a reviewer who can validate recovery.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C66AB198-0518-67DE-AB81-D65264FD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4606175"/>
            <a:ext cx="6304556" cy="3202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600" b="1">
                <a:solidFill>
                  <a:schemeClr val="accent1"/>
                </a:solidFill>
                <a:latin typeface="Roboto SemiBold"/>
                <a:ea typeface="Roboto SemiBold"/>
                <a:cs typeface="Roboto SemiBold"/>
              </a:rPr>
              <a:t>NEXT DECISION</a:t>
            </a:r>
          </a:p>
        </p:txBody>
      </p:sp>
      <p:sp>
        <p:nvSpPr>
          <p:cNvPr id="10" name="Subtitle 4">
            <a:extLst xmlns:a="http://schemas.openxmlformats.org/drawingml/2006/main">
              <a:ext uri="{FF2B5EF4-FFF2-40B4-BE49-F238E27FC236}">
                <a16:creationId xmlns:a16="http://schemas.microsoft.com/office/drawing/2014/main" id="{CC2E0538-5645-7BC8-CF3A-FDF31FD9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18" y="555606"/>
            <a:ext cx="3578411" cy="3451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accent2">
                    <a:lumMod val="90000"/>
                  </a:schemeClr>
                </a:solidFill>
                <a:latin typeface="Roboto Medium"/>
                <a:ea typeface="Roboto Medium"/>
                <a:cs typeface="Roboto Medium"/>
              </a:rPr>
              <a:t>SwarmOps · Nim Platform</a:t>
            </a:r>
          </a:p>
        </p:txBody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CF6FE515-092A-4C55-A548-FBCE712B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3260" y="3934067"/>
            <a:ext cx="12558520" cy="0"/>
          </a:xfrm>
          <a:prstGeom xmlns:a="http://schemas.openxmlformats.org/drawingml/2006/main" prst="line">
            <a:avLst/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685088558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Theme 2">
      <a:dk1>
        <a:srgbClr val="000000"/>
      </a:dk1>
      <a:lt1>
        <a:srgbClr val="FFFFFF"/>
      </a:lt1>
      <a:dk2>
        <a:srgbClr val="0E2841"/>
      </a:dk2>
      <a:lt2>
        <a:srgbClr val="FAFCFE"/>
      </a:lt2>
      <a:accent1>
        <a:srgbClr val="3357B8"/>
      </a:accent1>
      <a:accent2>
        <a:srgbClr val="CFD2D9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2026-08-25T23:26:23.9270000Z</dcterms:created>
  <dcterms:modified xsi:type="dcterms:W3CDTF">2026-08-25T23:26:23.9270000Z</dcterms:modified>
</coreProperties>
</file>