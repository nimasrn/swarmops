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46fdc8bbd5f47d2" /><Relationship Type="http://schemas.openxmlformats.org/officeDocument/2006/relationships/extended-properties" Target="/docProps/app.xml" Id="R402a94fc01ab484b" /><Relationship Type="http://schemas.openxmlformats.org/officeDocument/2006/relationships/officeDocument" Target="/ppt/presentation.xml" Id="Re94fbc371cc248e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620e2f3b40e4917"/>
  </p:sldMasterIdLst>
  <p:notesMasterIdLst>
    <p:notesMasterId xmlns:r="http://schemas.openxmlformats.org/officeDocument/2006/relationships" r:id="Re3e0d004ebaa4fef"/>
  </p:notesMasterIdLst>
  <p:sldIdLst>
    <p:sldId xmlns:r="http://schemas.openxmlformats.org/officeDocument/2006/relationships" id="256" r:id="Ra0fd9d9cb30b4a33"/>
    <p:sldId xmlns:r="http://schemas.openxmlformats.org/officeDocument/2006/relationships" id="257" r:id="Rfc55314cd65f430b"/>
    <p:sldId xmlns:r="http://schemas.openxmlformats.org/officeDocument/2006/relationships" id="258" r:id="R7c41ee80720d469b"/>
    <p:sldId xmlns:r="http://schemas.openxmlformats.org/officeDocument/2006/relationships" id="259" r:id="R4efced66a4914e48"/>
    <p:sldId xmlns:r="http://schemas.openxmlformats.org/officeDocument/2006/relationships" id="260" r:id="Rfa245bab488245bb"/>
    <p:sldId xmlns:r="http://schemas.openxmlformats.org/officeDocument/2006/relationships" id="261" r:id="Rc5aa52e310a74a2f"/>
    <p:sldId xmlns:r="http://schemas.openxmlformats.org/officeDocument/2006/relationships" id="262" r:id="R03e4519663f444b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4d8110a2a864159" /><Relationship Type="http://schemas.openxmlformats.org/officeDocument/2006/relationships/slideMaster" Target="/ppt/slideMasters/slideMaster1.xml" Id="R5620e2f3b40e4917" /><Relationship Type="http://schemas.openxmlformats.org/officeDocument/2006/relationships/notesMaster" Target="/ppt/notesMasters/notesMaster1.xml" Id="Re3e0d004ebaa4fef" /><Relationship Type="http://schemas.openxmlformats.org/officeDocument/2006/relationships/presProps" Target="/ppt/presProps.xml" Id="Rc58c60cfcf2d4f06" /><Relationship Type="http://schemas.openxmlformats.org/officeDocument/2006/relationships/viewProps" Target="/ppt/viewProps.xml" Id="R9cbc05c324d04a47" /><Relationship Type="http://schemas.openxmlformats.org/officeDocument/2006/relationships/tableStyles" Target="/ppt/tableStyles.xml" Id="R8dd0409b7ef04083" /><Relationship Type="http://schemas.openxmlformats.org/officeDocument/2006/relationships/slide" Target="/ppt/slides/slide1.xml" Id="Ra0fd9d9cb30b4a33" /><Relationship Type="http://schemas.openxmlformats.org/officeDocument/2006/relationships/slide" Target="/ppt/slides/slide2.xml" Id="Rfc55314cd65f430b" /><Relationship Type="http://schemas.openxmlformats.org/officeDocument/2006/relationships/slide" Target="/ppt/slides/slide3.xml" Id="R7c41ee80720d469b" /><Relationship Type="http://schemas.openxmlformats.org/officeDocument/2006/relationships/slide" Target="/ppt/slides/slide4.xml" Id="R4efced66a4914e48" /><Relationship Type="http://schemas.openxmlformats.org/officeDocument/2006/relationships/slide" Target="/ppt/slides/slide5.xml" Id="Rfa245bab488245bb" /><Relationship Type="http://schemas.openxmlformats.org/officeDocument/2006/relationships/slide" Target="/ppt/slides/slide6.xml" Id="Rc5aa52e310a74a2f" /><Relationship Type="http://schemas.openxmlformats.org/officeDocument/2006/relationships/slide" Target="/ppt/slides/slide7.xml" Id="R03e4519663f444b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b70ed170e83441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Default Codex Theme">
  <a:themeElements>
    <a:clrScheme name="BOT Color Palette 2026">
      <a:dk1>
        <a:srgbClr val="000000"/>
      </a:dk1>
      <a:lt1>
        <a:srgbClr val="FFFFFF"/>
      </a:lt1>
      <a:dk2>
        <a:srgbClr val="08284F"/>
      </a:dk2>
      <a:lt2>
        <a:srgbClr val="F9FCFF"/>
      </a:lt2>
      <a:accent1>
        <a:srgbClr val="175CD4"/>
      </a:accent1>
      <a:accent2>
        <a:srgbClr val="0B3668"/>
      </a:accent2>
      <a:accent3>
        <a:srgbClr val="EDF5FE"/>
      </a:accent3>
      <a:accent4>
        <a:srgbClr val="7E91A8"/>
      </a:accent4>
      <a:accent5>
        <a:srgbClr val="004142"/>
      </a:accent5>
      <a:accent6>
        <a:srgbClr val="407879"/>
      </a:accent6>
      <a:hlink>
        <a:srgbClr val="00ABFF"/>
      </a:hlink>
      <a:folHlink>
        <a:srgbClr val="430942"/>
      </a:folHlink>
    </a:clrScheme>
    <a:fontScheme name="Helvetica Neue">
      <a:majorFont>
        <a:latin typeface="Helvetica Neue"/>
        <a:ea typeface=""/>
        <a:cs typeface=""/>
      </a:majorFont>
      <a:minorFont>
        <a:latin typeface="Helvetica Neue"/>
        <a:ea typeface=""/>
        <a:cs typeface=""/>
      </a:minorFont>
    </a:fontScheme>
    <a:fmtScheme name="BOT Color Palette 2026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98872ae79354e9b" /><Relationship Type="http://schemas.openxmlformats.org/officeDocument/2006/relationships/notesMaster" Target="/ppt/notesMasters/notesMaster1.xml" Id="R7237f5f85804461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d09d02362c34712" /><Relationship Type="http://schemas.openxmlformats.org/officeDocument/2006/relationships/notesMaster" Target="/ppt/notesMasters/notesMaster1.xml" Id="R3254c06d69754f7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c31cd2fad4347ab" /><Relationship Type="http://schemas.openxmlformats.org/officeDocument/2006/relationships/notesMaster" Target="/ppt/notesMasters/notesMaster1.xml" Id="R70157c583d5d4f6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cda022e9ce0438f" /><Relationship Type="http://schemas.openxmlformats.org/officeDocument/2006/relationships/notesMaster" Target="/ppt/notesMasters/notesMaster1.xml" Id="Rb2715faea863492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e0a1bf330324118" /><Relationship Type="http://schemas.openxmlformats.org/officeDocument/2006/relationships/notesMaster" Target="/ppt/notesMasters/notesMaster1.xml" Id="R4112807c51e14a4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2e44c6ffd814438" /><Relationship Type="http://schemas.openxmlformats.org/officeDocument/2006/relationships/notesMaster" Target="/ppt/notesMasters/notesMaster1.xml" Id="Re53cf2c188954b0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b3997dac7144f9c" /><Relationship Type="http://schemas.openxmlformats.org/officeDocument/2006/relationships/notesMaster" Target="/ppt/notesMasters/notesMaster1.xml" Id="R89f356fadcd74ae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https://docs.docker.com/engine/install/debian/ (Docker Engine installation guidance)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https://documentation.ubuntu.com/canonical-kubernetes/main/snap/howto/networking/ufw/ (Docker/UFW caveat)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36480d5b68945d6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af55c4492ba421d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d4478ea7e0f4ba7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909381567164cdd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082f60b764d4611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08c58a74b5545d9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e42d44b50f94ae5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430fb5e7d9a4a90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1b11f1498a848d6" /><Relationship Type="http://schemas.openxmlformats.org/officeDocument/2006/relationships/image" Target="/ppt/media/image.png" Id="R3391de49298849be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89fd9815b2344a2" /><Relationship Type="http://schemas.openxmlformats.org/officeDocument/2006/relationships/image" Target="/ppt/media/image2.png" Id="R245d75269ebb4e5b" /></Relationships>
</file>

<file path=ppt/slideLayouts/slideLayout1.xml><?xml version="1.0" encoding="utf-8"?>
<p:sldLayout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683004A5-B645-655E-5362-4217D55892E1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393700" y="1041400"/>
            <a:ext cx="7493000" cy="2491490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6000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C57031B1-59B2-C235-9FDD-8050418A5FD8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393700" y="4356100"/>
            <a:ext cx="5537200" cy="1638300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Click to edit Master subtitle style</a:t>
            </a:r>
          </a:p>
        </p:txBody>
      </p:sp>
    </p:spTree>
  </p:cSld>
</p:sldLayout>
</file>

<file path=ppt/slideLayouts/slideLayout2.xml><?xml version="1.0" encoding="utf-8"?>
<p:sldLayout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5E851FDE-9E0B-568C-1CBA-E72B86CC06ED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032000"/>
            <a:ext cx="114046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9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29CCD18F-3BF6-A3EE-DAAE-66BD406D7E8D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1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100"/>
          </a:p>
        </p:txBody>
      </p:sp>
      <p:sp>
        <p:nvSpPr>
          <p:cNvPr id="10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5186992D-ADA6-5A23-EBD5-6BEF0A2E61BA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1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100"/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CDBB333F-FFCF-AA9E-7AC0-64DB02353FB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3.xml><?xml version="1.0" encoding="utf-8"?>
<p:sldLayout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4DCC3060-FADA-4310-30F9-24EC34B5AA87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032000"/>
            <a:ext cx="55372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10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9E7B047-08E6-29C1-F101-C084D555AACC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1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100"/>
          </a:p>
        </p:txBody>
      </p:sp>
      <p:sp>
        <p:nvSpPr>
          <p:cNvPr id="1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3DE564C6-8AA0-935D-A919-07AFA15B335B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1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100"/>
          </a:p>
        </p:txBody>
      </p:sp>
      <p:sp>
        <p:nvSpPr>
          <p:cNvPr id="12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4ABE46D3-8F05-1C7F-3EC7-20BFCC76C251}"/>
              </a:ext>
            </a:extLst>
          </p:cNvPr>
          <p:cNvSpPr>
            <a:spLocks xmlns:a="http://schemas.openxmlformats.org/drawingml/2006/main" noGrp="1"/>
          </p:cNvSpPr>
          <p:nvPr>
            <p:ph idx="10"/>
          </p:nvPr>
        </p:nvSpPr>
        <p:spPr>
          <a:xfrm xmlns:a="http://schemas.openxmlformats.org/drawingml/2006/main">
            <a:off x="6256618" y="2032000"/>
            <a:ext cx="55372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739D2C21-36BF-25E7-8E97-1D17F313F7A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4.xml><?xml version="1.0" encoding="utf-8"?>
<p:sldLayout xmlns:p="http://schemas.openxmlformats.org/presentationml/2006/main" preserve="1" userDrawn="1">
  <p:cSld name="Three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6F7D12C6-B3BC-2F80-A661-00CC228193B5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032000"/>
            <a:ext cx="35687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12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0682803B-B799-370F-B1B9-EB49CCB10A11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1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100"/>
          </a:p>
        </p:txBody>
      </p:sp>
      <p:sp>
        <p:nvSpPr>
          <p:cNvPr id="13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FE26095-B1FD-5C7C-C8D6-78ABF739DCBA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1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100"/>
          </a:p>
        </p:txBody>
      </p:sp>
      <p:sp>
        <p:nvSpPr>
          <p:cNvPr id="14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80E090C5-E6C8-92F2-E8C2-A840B8F1807D}"/>
              </a:ext>
            </a:extLst>
          </p:cNvPr>
          <p:cNvSpPr>
            <a:spLocks xmlns:a="http://schemas.openxmlformats.org/drawingml/2006/main" noGrp="1"/>
          </p:cNvSpPr>
          <p:nvPr>
            <p:ph idx="10"/>
          </p:nvPr>
        </p:nvSpPr>
        <p:spPr>
          <a:xfrm xmlns:a="http://schemas.openxmlformats.org/drawingml/2006/main">
            <a:off x="4318000" y="2032000"/>
            <a:ext cx="35687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15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0C6D2D15-AEC2-9F99-316F-C37AF863965D}"/>
              </a:ext>
            </a:extLst>
          </p:cNvPr>
          <p:cNvSpPr>
            <a:spLocks xmlns:a="http://schemas.openxmlformats.org/drawingml/2006/main" noGrp="1"/>
          </p:cNvSpPr>
          <p:nvPr>
            <p:ph idx="11"/>
          </p:nvPr>
        </p:nvSpPr>
        <p:spPr>
          <a:xfrm xmlns:a="http://schemas.openxmlformats.org/drawingml/2006/main">
            <a:off x="8232273" y="2032000"/>
            <a:ext cx="35687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EC59174D-4FF5-0FD8-FE78-F71A39E187A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5.xml><?xml version="1.0" encoding="utf-8"?>
<p:sldLayout xmlns:p="http://schemas.openxmlformats.org/presentationml/2006/main" preserve="1" userDrawn="1">
  <p:cSld name="Four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6F7D12C6-B3BC-2F80-A661-00CC228193B5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4826000"/>
            <a:ext cx="2595934" cy="1168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>
            <a:lvl1pPr>
              <a:buNone/>
              <a:defRPr sz="1600"/>
            </a:lvl1pPr>
            <a:lvl2pPr>
              <a:buNone/>
              <a:defRPr sz="1600"/>
            </a:lvl2pPr>
            <a:lvl3pPr>
              <a:buNone/>
              <a:defRPr sz="1600"/>
            </a:lvl3pPr>
            <a:lvl4pPr>
              <a:buNone/>
              <a:defRPr sz="1600"/>
            </a:lvl4pPr>
            <a:lvl5pPr>
              <a:buNone/>
              <a:defRPr sz="1600"/>
            </a:lvl5pPr>
          </a:lstStyle>
          <a:p xmlns:a="http://schemas.openxmlformats.org/drawingml/2006/main">
            <a:pPr lvl="0">
              <a:buNone/>
            </a:pPr>
            <a:r>
              <a:t>Click to edit Master</a:t>
            </a:r>
          </a:p>
        </p:txBody>
      </p:sp>
      <p:sp>
        <p:nvSpPr>
          <p:cNvPr id="12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0682803B-B799-370F-B1B9-EB49CCB10A11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1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100"/>
          </a:p>
        </p:txBody>
      </p:sp>
      <p:sp>
        <p:nvSpPr>
          <p:cNvPr id="13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FE26095-B1FD-5C7C-C8D6-78ABF739DCBA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1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100"/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EC59174D-4FF5-0FD8-FE78-F71A39E187A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8" name="Text Placeholder 7">
            <a:extLst xmlns:a="http://schemas.openxmlformats.org/drawingml/2006/main">
              <a:ext uri="{FF2B5EF4-FFF2-40B4-BE49-F238E27FC236}">
                <a16:creationId xmlns:a16="http://schemas.microsoft.com/office/drawing/2014/main" id="{4F70A9DA-D783-0627-3166-E13B68C2ADAC}"/>
              </a:ext>
            </a:extLst>
          </p:cNvPr>
          <p:cNvSpPr>
            <a:spLocks xmlns:a="http://schemas.openxmlformats.org/drawingml/2006/main" noGrp="1"/>
          </p:cNvSpPr>
          <p:nvPr>
            <p:ph type="body" idx="12"/>
          </p:nvPr>
        </p:nvSpPr>
        <p:spPr>
          <a:xfrm xmlns:a="http://schemas.openxmlformats.org/drawingml/2006/main">
            <a:off x="3334966" y="4826000"/>
            <a:ext cx="2595934" cy="1168400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800"/>
            </a:lvl1pPr>
            <a:lvl2pPr>
              <a:buNone/>
              <a:defRPr sz="1800"/>
            </a:lvl2pPr>
            <a:lvl3pPr>
              <a:buNone/>
              <a:defRPr sz="1800"/>
            </a:lvl3pPr>
            <a:lvl4pPr>
              <a:buNone/>
              <a:defRPr sz="1800"/>
            </a:lvl4pPr>
            <a:lvl5pPr>
              <a:buNone/>
              <a:defRPr sz="1800"/>
            </a:lvl5pPr>
          </a:lstStyle>
          <a:p xmlns:a="http://schemas.openxmlformats.org/drawingml/2006/main">
            <a:pPr lvl="0">
              <a:buNone/>
            </a:pPr>
            <a:r>
              <a:t>Click to edit Master</a:t>
            </a:r>
          </a:p>
        </p:txBody>
      </p:sp>
      <p:sp>
        <p:nvSpPr>
          <p:cNvPr id="9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75BF2647-8E8C-CAEE-896D-0E1567AF7E99}"/>
              </a:ext>
            </a:extLst>
          </p:cNvPr>
          <p:cNvSpPr>
            <a:spLocks xmlns:a="http://schemas.openxmlformats.org/drawingml/2006/main" noGrp="1"/>
          </p:cNvSpPr>
          <p:nvPr>
            <p:ph idx="13"/>
          </p:nvPr>
        </p:nvSpPr>
        <p:spPr>
          <a:xfrm xmlns:a="http://schemas.openxmlformats.org/drawingml/2006/main">
            <a:off x="6264413" y="4826000"/>
            <a:ext cx="2595934" cy="1168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>
            <a:lvl1pPr>
              <a:buNone/>
              <a:defRPr sz="1600"/>
            </a:lvl1pPr>
            <a:lvl2pPr>
              <a:buNone/>
              <a:defRPr sz="1600"/>
            </a:lvl2pPr>
            <a:lvl3pPr>
              <a:buNone/>
              <a:defRPr sz="1600"/>
            </a:lvl3pPr>
            <a:lvl4pPr>
              <a:buNone/>
              <a:defRPr sz="1600"/>
            </a:lvl4pPr>
            <a:lvl5pPr>
              <a:buNone/>
              <a:defRPr sz="1600"/>
            </a:lvl5pPr>
          </a:lstStyle>
          <a:p xmlns:a="http://schemas.openxmlformats.org/drawingml/2006/main">
            <a:pPr lvl="0">
              <a:buNone/>
            </a:pPr>
            <a:r>
              <a:t>Click to edit Master</a:t>
            </a:r>
          </a:p>
        </p:txBody>
      </p:sp>
      <p:sp>
        <p:nvSpPr>
          <p:cNvPr id="10" name="Text Placeholder 7">
            <a:extLst xmlns:a="http://schemas.openxmlformats.org/drawingml/2006/main">
              <a:ext uri="{FF2B5EF4-FFF2-40B4-BE49-F238E27FC236}">
                <a16:creationId xmlns:a16="http://schemas.microsoft.com/office/drawing/2014/main" id="{37C6F143-221A-9959-8FBA-B9B1DB6602D0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9205679" y="4826000"/>
            <a:ext cx="2595934" cy="1168400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800"/>
            </a:lvl1pPr>
            <a:lvl2pPr>
              <a:buNone/>
              <a:defRPr sz="1800"/>
            </a:lvl2pPr>
            <a:lvl3pPr>
              <a:buNone/>
              <a:defRPr sz="1800"/>
            </a:lvl3pPr>
            <a:lvl4pPr>
              <a:buNone/>
              <a:defRPr sz="1800"/>
            </a:lvl4pPr>
            <a:lvl5pPr>
              <a:buNone/>
              <a:defRPr sz="1800"/>
            </a:lvl5pPr>
          </a:lstStyle>
          <a:p xmlns:a="http://schemas.openxmlformats.org/drawingml/2006/main">
            <a:pPr lvl="0">
              <a:buNone/>
            </a:pPr>
            <a:r>
              <a:t>Click to edit Master</a:t>
            </a:r>
          </a:p>
        </p:txBody>
      </p:sp>
    </p:spTree>
  </p:cSld>
</p:sldLayout>
</file>

<file path=ppt/slideLayouts/slideLayout6.xml><?xml version="1.0" encoding="utf-8"?>
<p:sldLayout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DB1182C5-F22B-2641-06DE-4EDACA3C1DDD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1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100"/>
          </a:p>
        </p:txBody>
      </p:sp>
      <p:sp>
        <p:nvSpPr>
          <p:cNvPr id="9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F97A4AD5-204B-38FD-4F33-270C2F9F5CC6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1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100"/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75CF9983-3FD7-FAE4-9F0B-B2CE806D891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7.xml><?xml version="1.0" encoding="utf-8"?>
<p:sldLayout xmlns:p="http://schemas.openxmlformats.org/presentationml/2006/main" preserve="1" userDrawn="1">
  <p:cSld name="Footer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012CBCC-C555-8C11-443D-86D6F7A45CF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1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100"/>
          </a:p>
        </p:txBody>
      </p:sp>
      <p:sp>
        <p:nvSpPr>
          <p:cNvPr id="8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B69B260B-B882-BF7F-1BB1-28B9578A25A2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1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100"/>
          </a:p>
        </p:txBody>
      </p:sp>
    </p:spTree>
  </p:cSld>
</p:sldLayout>
</file>

<file path=ppt/slideLayouts/slideLayout8.xml><?xml version="1.0" encoding="utf-8"?>
<p:sldLayout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9.xml><?xml version="1.0" encoding="utf-8"?>
<p:sldLayout xmlns:p="http://schemas.openxmlformats.org/presentationml/2006/main" preserve="1" userDrawn="1">
  <p:cSld name="36 Field Grid">
    <p:bg>
      <p:bgPr>
        <a:blipFill xmlns:a="http://schemas.openxmlformats.org/drawingml/2006/main" rotWithShape="1">
          <a:blip xmlns:r="http://schemas.openxmlformats.org/officeDocument/2006/relationships" r:embed="R3391de49298849be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10.xml><?xml version="1.0" encoding="utf-8"?>
<p:sldLayout xmlns:p="http://schemas.openxmlformats.org/presentationml/2006/main" preserve="1" userDrawn="1">
  <p:cSld name="48 Field Grid">
    <p:bg>
      <p:bgPr>
        <a:blipFill xmlns:a="http://schemas.openxmlformats.org/drawingml/2006/main" rotWithShape="1">
          <a:blip xmlns:r="http://schemas.openxmlformats.org/officeDocument/2006/relationships" r:embed="R245d75269ebb4e5b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2e24229444e40f0" /><Relationship Type="http://schemas.openxmlformats.org/officeDocument/2006/relationships/slideLayout" Target="/ppt/slideLayouts/slideLayout1.xml" Id="R5307fd2b1a4b4ee8" /><Relationship Type="http://schemas.openxmlformats.org/officeDocument/2006/relationships/slideLayout" Target="/ppt/slideLayouts/slideLayout2.xml" Id="R7641e2843a44419f" /><Relationship Type="http://schemas.openxmlformats.org/officeDocument/2006/relationships/slideLayout" Target="/ppt/slideLayouts/slideLayout3.xml" Id="Ra7e7192b6889439b" /><Relationship Type="http://schemas.openxmlformats.org/officeDocument/2006/relationships/slideLayout" Target="/ppt/slideLayouts/slideLayout4.xml" Id="R0d6dc26cdb744314" /><Relationship Type="http://schemas.openxmlformats.org/officeDocument/2006/relationships/slideLayout" Target="/ppt/slideLayouts/slideLayout5.xml" Id="Rb94ffcd67e114510" /><Relationship Type="http://schemas.openxmlformats.org/officeDocument/2006/relationships/slideLayout" Target="/ppt/slideLayouts/slideLayout6.xml" Id="R66ce08ce79464472" /><Relationship Type="http://schemas.openxmlformats.org/officeDocument/2006/relationships/slideLayout" Target="/ppt/slideLayouts/slideLayout7.xml" Id="R3c35a592663c42c4" /><Relationship Type="http://schemas.openxmlformats.org/officeDocument/2006/relationships/slideLayout" Target="/ppt/slideLayouts/slideLayout8.xml" Id="R72a2f632ee614ec1" /><Relationship Type="http://schemas.openxmlformats.org/officeDocument/2006/relationships/slideLayout" Target="/ppt/slideLayouts/slideLayout9.xml" Id="Rc9e7076b176a4bb9" /><Relationship Type="http://schemas.openxmlformats.org/officeDocument/2006/relationships/slideLayout" Target="/ppt/slideLayouts/slideLayout10.xml" Id="R2285a860b10646b9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BB87ED2E-D8FF-5C8C-ED50-59BA3091C3E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05B0E1CB-6DCA-2E9F-2B74-4309B4084C0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93700" y="2032000"/>
            <a:ext cx="114046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C75650C-2983-5B02-8421-FF1818435433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9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D872C88C-1AB3-96BA-C9E5-3435A4BD59BB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9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307fd2b1a4b4ee8"/>
    <p:sldLayoutId xmlns:r="http://schemas.openxmlformats.org/officeDocument/2006/relationships" id="2147483650" r:id="R7641e2843a44419f"/>
    <p:sldLayoutId xmlns:r="http://schemas.openxmlformats.org/officeDocument/2006/relationships" id="2147483651" r:id="Ra7e7192b6889439b"/>
    <p:sldLayoutId xmlns:r="http://schemas.openxmlformats.org/officeDocument/2006/relationships" id="2147483652" r:id="R0d6dc26cdb744314"/>
    <p:sldLayoutId xmlns:r="http://schemas.openxmlformats.org/officeDocument/2006/relationships" id="2147483653" r:id="Rb94ffcd67e114510"/>
    <p:sldLayoutId xmlns:r="http://schemas.openxmlformats.org/officeDocument/2006/relationships" id="2147483654" r:id="R66ce08ce79464472"/>
    <p:sldLayoutId xmlns:r="http://schemas.openxmlformats.org/officeDocument/2006/relationships" id="2147483655" r:id="R3c35a592663c42c4"/>
    <p:sldLayoutId xmlns:r="http://schemas.openxmlformats.org/officeDocument/2006/relationships" id="2147483656" r:id="R72a2f632ee614ec1"/>
    <p:sldLayoutId xmlns:r="http://schemas.openxmlformats.org/officeDocument/2006/relationships" id="2147483657" r:id="Rc9e7076b176a4bb9"/>
    <p:sldLayoutId xmlns:r="http://schemas.openxmlformats.org/officeDocument/2006/relationships" id="2147483658" r:id="R2285a860b10646b9"/>
  </p:sldLayoutIdLst>
  <p:hf hdr="0" dt="0"/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26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  <p:extLst>
    <p:ext uri="{27BBF7A9-308A-43DC-89C8-2F10F3537804}">
      <p15:sldGuideLst xmlns:p15="http://schemas.microsoft.com/office/powerpoint/2012/main">
        <p15:guide id="1" userDrawn="1">
          <p15:clr>
            <a:srgbClr xmlns:a="http://schemas.openxmlformats.org/drawingml/2006/main" val="F26B43"/>
          </p15:clr>
        </p15:guide>
        <p15:guide id="2" pos="7680" userDrawn="1">
          <p15:clr>
            <a:srgbClr xmlns:a="http://schemas.openxmlformats.org/drawingml/2006/main" val="F26B43"/>
          </p15:clr>
        </p15:guide>
        <p15:guide id="3" pos="248" userDrawn="1">
          <p15:clr>
            <a:srgbClr xmlns:a="http://schemas.openxmlformats.org/drawingml/2006/main" val="F26B43"/>
          </p15:clr>
        </p15:guide>
        <p15:guide id="4" pos="1264" userDrawn="1">
          <p15:clr>
            <a:srgbClr xmlns:a="http://schemas.openxmlformats.org/drawingml/2006/main" val="F26B43"/>
          </p15:clr>
        </p15:guide>
        <p15:guide id="5" pos="1480" userDrawn="1">
          <p15:clr>
            <a:srgbClr xmlns:a="http://schemas.openxmlformats.org/drawingml/2006/main" val="F26B43"/>
          </p15:clr>
        </p15:guide>
        <p15:guide id="6" pos="2496" userDrawn="1">
          <p15:clr>
            <a:srgbClr xmlns:a="http://schemas.openxmlformats.org/drawingml/2006/main" val="F26B43"/>
          </p15:clr>
        </p15:guide>
        <p15:guide id="7" pos="2712" userDrawn="1">
          <p15:clr>
            <a:srgbClr xmlns:a="http://schemas.openxmlformats.org/drawingml/2006/main" val="F26B43"/>
          </p15:clr>
        </p15:guide>
        <p15:guide id="8" pos="3736" userDrawn="1">
          <p15:clr>
            <a:srgbClr xmlns:a="http://schemas.openxmlformats.org/drawingml/2006/main" val="F26B43"/>
          </p15:clr>
        </p15:guide>
        <p15:guide id="9" pos="3944" userDrawn="1">
          <p15:clr>
            <a:srgbClr xmlns:a="http://schemas.openxmlformats.org/drawingml/2006/main" val="F26B43"/>
          </p15:clr>
        </p15:guide>
        <p15:guide id="10" pos="4968" userDrawn="1">
          <p15:clr>
            <a:srgbClr xmlns:a="http://schemas.openxmlformats.org/drawingml/2006/main" val="F26B43"/>
          </p15:clr>
        </p15:guide>
        <p15:guide id="11" pos="5184" userDrawn="1">
          <p15:clr>
            <a:srgbClr xmlns:a="http://schemas.openxmlformats.org/drawingml/2006/main" val="F26B43"/>
          </p15:clr>
        </p15:guide>
        <p15:guide id="12" pos="6200" userDrawn="1">
          <p15:clr>
            <a:srgbClr xmlns:a="http://schemas.openxmlformats.org/drawingml/2006/main" val="F26B43"/>
          </p15:clr>
        </p15:guide>
        <p15:guide id="13" pos="6416" userDrawn="1">
          <p15:clr>
            <a:srgbClr xmlns:a="http://schemas.openxmlformats.org/drawingml/2006/main" val="F26B43"/>
          </p15:clr>
        </p15:guide>
        <p15:guide id="14" pos="7432" userDrawn="1">
          <p15:clr>
            <a:srgbClr xmlns:a="http://schemas.openxmlformats.org/drawingml/2006/main" val="F26B43"/>
          </p15:clr>
        </p15:guide>
        <p15:guide id="15" orient="horz" userDrawn="1">
          <p15:clr>
            <a:srgbClr xmlns:a="http://schemas.openxmlformats.org/drawingml/2006/main" val="F26B43"/>
          </p15:clr>
        </p15:guide>
        <p15:guide id="17" orient="horz" pos="248" userDrawn="1">
          <p15:clr>
            <a:srgbClr xmlns:a="http://schemas.openxmlformats.org/drawingml/2006/main" val="F26B43"/>
          </p15:clr>
        </p15:guide>
        <p15:guide id="18" orient="horz" pos="656" userDrawn="1">
          <p15:clr>
            <a:srgbClr xmlns:a="http://schemas.openxmlformats.org/drawingml/2006/main" val="F26B43"/>
          </p15:clr>
        </p15:guide>
        <p15:guide id="19" orient="horz" pos="872" userDrawn="1">
          <p15:clr>
            <a:srgbClr xmlns:a="http://schemas.openxmlformats.org/drawingml/2006/main" val="F26B43"/>
          </p15:clr>
        </p15:guide>
        <p15:guide id="20" orient="horz" pos="1280" userDrawn="1">
          <p15:clr>
            <a:srgbClr xmlns:a="http://schemas.openxmlformats.org/drawingml/2006/main" val="F26B43"/>
          </p15:clr>
        </p15:guide>
        <p15:guide id="21" orient="horz" pos="1496" userDrawn="1">
          <p15:clr>
            <a:srgbClr xmlns:a="http://schemas.openxmlformats.org/drawingml/2006/main" val="F26B43"/>
          </p15:clr>
        </p15:guide>
        <p15:guide id="22" orient="horz" pos="1904" userDrawn="1">
          <p15:clr>
            <a:srgbClr xmlns:a="http://schemas.openxmlformats.org/drawingml/2006/main" val="F26B43"/>
          </p15:clr>
        </p15:guide>
        <p15:guide id="23" orient="horz" pos="2120" userDrawn="1">
          <p15:clr>
            <a:srgbClr xmlns:a="http://schemas.openxmlformats.org/drawingml/2006/main" val="F26B43"/>
          </p15:clr>
        </p15:guide>
        <p15:guide id="24" orient="horz" pos="2528" userDrawn="1">
          <p15:clr>
            <a:srgbClr xmlns:a="http://schemas.openxmlformats.org/drawingml/2006/main" val="F26B43"/>
          </p15:clr>
        </p15:guide>
        <p15:guide id="25" orient="horz" pos="2744" userDrawn="1">
          <p15:clr>
            <a:srgbClr xmlns:a="http://schemas.openxmlformats.org/drawingml/2006/main" val="F26B43"/>
          </p15:clr>
        </p15:guide>
        <p15:guide id="26" orient="horz" pos="3152" userDrawn="1">
          <p15:clr>
            <a:srgbClr xmlns:a="http://schemas.openxmlformats.org/drawingml/2006/main" val="F26B43"/>
          </p15:clr>
        </p15:guide>
        <p15:guide id="27" orient="horz" pos="3368" userDrawn="1">
          <p15:clr>
            <a:srgbClr xmlns:a="http://schemas.openxmlformats.org/drawingml/2006/main" val="F26B43"/>
          </p15:clr>
        </p15:guide>
        <p15:guide id="28" orient="horz" pos="3776" userDrawn="1">
          <p15:clr>
            <a:srgbClr xmlns:a="http://schemas.openxmlformats.org/drawingml/2006/main" val="F26B43"/>
          </p15:clr>
        </p15:guide>
        <p15:guide id="29" orient="horz" pos="4088" userDrawn="1">
          <p15:clr>
            <a:srgbClr xmlns:a="http://schemas.openxmlformats.org/drawingml/2006/main" val="F26B43"/>
          </p15:clr>
        </p15:guide>
      </p15:sldGuideLst>
    </p:ext>
  </p:extLst>
</p:sldMaster>
</file>

<file path=ppt/slideMasters/theme/theme2.xml><?xml version="1.0" encoding="utf-8"?>
<a:theme xmlns:a="http://schemas.openxmlformats.org/drawingml/2006/main" name="Default Codex Theme">
  <a:themeElements>
    <a:clrScheme name="BOT Color Palette 2026">
      <a:dk1>
        <a:srgbClr val="000000"/>
      </a:dk1>
      <a:lt1>
        <a:srgbClr val="FFFFFF"/>
      </a:lt1>
      <a:dk2>
        <a:srgbClr val="08284F"/>
      </a:dk2>
      <a:lt2>
        <a:srgbClr val="F9FCFF"/>
      </a:lt2>
      <a:accent1>
        <a:srgbClr val="175CD4"/>
      </a:accent1>
      <a:accent2>
        <a:srgbClr val="0B3668"/>
      </a:accent2>
      <a:accent3>
        <a:srgbClr val="EDF5FE"/>
      </a:accent3>
      <a:accent4>
        <a:srgbClr val="7E91A8"/>
      </a:accent4>
      <a:accent5>
        <a:srgbClr val="004142"/>
      </a:accent5>
      <a:accent6>
        <a:srgbClr val="407879"/>
      </a:accent6>
      <a:hlink>
        <a:srgbClr val="00ABFF"/>
      </a:hlink>
      <a:folHlink>
        <a:srgbClr val="430942"/>
      </a:folHlink>
    </a:clrScheme>
    <a:fontScheme name="Helvetica Neue">
      <a:majorFont>
        <a:latin typeface="Helvetica Neue"/>
        <a:ea typeface=""/>
        <a:cs typeface=""/>
      </a:majorFont>
      <a:minorFont>
        <a:latin typeface="Helvetica Neue"/>
        <a:ea typeface=""/>
        <a:cs typeface=""/>
      </a:minorFont>
    </a:fontScheme>
    <a:fmtScheme name="BOT Color Palette 2026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59ca20455ac4b8e" /><Relationship Type="http://schemas.openxmlformats.org/officeDocument/2006/relationships/notesSlide" Target="/ppt/notesSlides/notesSlide1.xml" Id="R584d5d8206d642e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7c07b2b70544d41" /><Relationship Type="http://schemas.openxmlformats.org/officeDocument/2006/relationships/notesSlide" Target="/ppt/notesSlides/notesSlide2.xml" Id="Re8450836cda040a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9d32050c02d47f6" /><Relationship Type="http://schemas.openxmlformats.org/officeDocument/2006/relationships/notesSlide" Target="/ppt/notesSlides/notesSlide3.xml" Id="Re9304302aede400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abd0d83e3e64ef0" /><Relationship Type="http://schemas.openxmlformats.org/officeDocument/2006/relationships/notesSlide" Target="/ppt/notesSlides/notesSlide4.xml" Id="Rad567af044d94ce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f663026928044de9" /><Relationship Type="http://schemas.openxmlformats.org/officeDocument/2006/relationships/notesSlide" Target="/ppt/notesSlides/notesSlide5.xml" Id="R2743723922cc477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4de74e335e29460e" /><Relationship Type="http://schemas.openxmlformats.org/officeDocument/2006/relationships/notesSlide" Target="/ppt/notesSlides/notesSlide6.xml" Id="R2fc9584b87a54ec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49d6096cc95490c" /><Relationship Type="http://schemas.openxmlformats.org/officeDocument/2006/relationships/notesSlide" Target="/ppt/notesSlides/notesSlide7.xml" Id="Rf864b107baab4958" /></Relationships>
</file>

<file path=ppt/slides/slide1.xml><?xml version="1.0" encoding="utf-8"?>
<p:sld xmlns:p="http://schemas.openxmlformats.org/presentationml/2006/main">
  <p:cSld>
    <p:bg>
      <p:bgPr>
        <a:gradFill xmlns:a="http://schemas.openxmlformats.org/drawingml/2006/main" rotWithShape="1">
          <a:gsLst>
            <a:gs pos="0">
              <a:srgbClr val="0C3666"/>
            </a:gs>
            <a:gs pos="100000">
              <a:srgbClr val="061C39"/>
            </a:gs>
          </a:gsLst>
          <a:lin ang="13500000" scaled="1"/>
          <a:tileRect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 3">
            <a:extLst xmlns:a="http://schemas.openxmlformats.org/drawingml/2006/main">
              <a:ext uri="{FF2B5EF4-FFF2-40B4-BE49-F238E27FC236}">
                <a16:creationId xmlns:a16="http://schemas.microsoft.com/office/drawing/2014/main" id="{0F24658D-7578-8E1B-095D-2634178665BE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384537" y="1850746"/>
            <a:ext cx="9448800" cy="2491490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r>
              <a:rPr sz="6500">
                <a:solidFill>
                  <a:schemeClr val="accent3"/>
                </a:solidFill>
              </a:rPr>
              <a:t>SwarmOps operating review</a:t>
            </a:r>
          </a:p>
        </p:txBody>
      </p:sp>
      <p:sp>
        <p:nvSpPr>
          <p:cNvPr id="5" name="Subtitle 4">
            <a:extLst xmlns:a="http://schemas.openxmlformats.org/drawingml/2006/main">
              <a:ext uri="{FF2B5EF4-FFF2-40B4-BE49-F238E27FC236}">
                <a16:creationId xmlns:a16="http://schemas.microsoft.com/office/drawing/2014/main" id="{9CFCDDD1-6B62-D648-FCD8-F519A8EBFE03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393700" y="5170707"/>
            <a:ext cx="3568700" cy="647700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r>
              <a:rPr sz="1800">
                <a:solidFill>
                  <a:schemeClr val="bg2">
                    <a:lumMod val="75000"/>
                  </a:schemeClr>
                </a:solidFill>
              </a:rPr>
              <a:t>Server readiness rollout gates</a:t>
            </a:r>
          </a:p>
        </p:txBody>
      </p:sp>
      <p:sp>
        <p:nvSpPr>
          <p:cNvPr id="2" name="Subtitle 4">
            <a:extLst xmlns:a="http://schemas.openxmlformats.org/drawingml/2006/main">
              <a:ext uri="{FF2B5EF4-FFF2-40B4-BE49-F238E27FC236}">
                <a16:creationId xmlns:a16="http://schemas.microsoft.com/office/drawing/2014/main" id="{7DE36FE5-F5E6-DBA2-7BCD-BDE05B2A1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0789" y="5170707"/>
            <a:ext cx="35687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r>
              <a:rPr sz="1800">
                <a:solidFill>
                  <a:schemeClr val="bg2">
                    <a:lumMod val="75000"/>
                  </a:schemeClr>
                </a:solidFill>
              </a:rPr>
              <a:t>Nim Platform</a:t>
            </a:r>
          </a:p>
        </p:txBody>
      </p:sp>
      <p:sp>
        <p:nvSpPr>
          <p:cNvPr id="3" name="Subtitle 4">
            <a:extLst xmlns:a="http://schemas.openxmlformats.org/drawingml/2006/main">
              <a:ext uri="{FF2B5EF4-FFF2-40B4-BE49-F238E27FC236}">
                <a16:creationId xmlns:a16="http://schemas.microsoft.com/office/drawing/2014/main" id="{1855E0C5-A5E4-590B-0D77-15A6F24D0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8228" y="623595"/>
            <a:ext cx="3199235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algn="r">
              <a:buNone/>
            </a:pPr>
            <a:r>
              <a:rPr sz="1800">
                <a:solidFill>
                  <a:srgbClr val="EDF5FE">
                    <a:alpha val="50000"/>
                  </a:srgbClr>
                </a:solidFill>
                <a:latin typeface="Helvetica Neue"/>
                <a:ea typeface="Helvetica Neue"/>
                <a:cs typeface="Helvetica Neue"/>
              </a:rPr>
              <a:t>AUGUST 2026</a:t>
            </a:r>
          </a:p>
        </p:txBody>
      </p:sp>
      <p:sp>
        <p:nvSpPr>
          <p:cNvPr id="7" name="Subtitle 4">
            <a:extLst xmlns:a="http://schemas.openxmlformats.org/drawingml/2006/main">
              <a:ext uri="{FF2B5EF4-FFF2-40B4-BE49-F238E27FC236}">
                <a16:creationId xmlns:a16="http://schemas.microsoft.com/office/drawing/2014/main" id="{5794C0B2-4912-64A0-21CF-60B66252E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623595"/>
            <a:ext cx="5537200" cy="64915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>
              <a:buNone/>
            </a:pPr>
            <a:r>
              <a:rPr sz="1800">
                <a:solidFill>
                  <a:srgbClr val="EDF5FE">
                    <a:alpha val="50000"/>
                  </a:srgbClr>
                </a:solidFill>
                <a:latin typeface="Helvetica Neue"/>
                <a:ea typeface="Helvetica Neue"/>
                <a:cs typeface="Helvetica Neue"/>
              </a:rPr>
              <a:t>SwarmOps</a:t>
            </a:r>
          </a:p>
        </p:txBody>
      </p:sp>
      <p:sp>
        <p:nvSpPr>
          <p:cNvPr id="8" name="Straight Connector 7">
            <a:extLst xmlns:a="http://schemas.openxmlformats.org/drawingml/2006/main">
              <a:ext uri="{FF2B5EF4-FFF2-40B4-BE49-F238E27FC236}">
                <a16:creationId xmlns:a16="http://schemas.microsoft.com/office/drawing/2014/main" id="{2C44CC9A-9965-4409-A701-AC4DB42AF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537" y="374574"/>
            <a:ext cx="11422926" cy="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rgbClr val="7A8CA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</p:spTree>
    <p:extLst>
      <p:ext uri="{BB962C8B-B14F-4D97-AF65-F5344CB8AC3E}">
        <p14:creationId xmlns:p14="http://schemas.microsoft.com/office/powerpoint/2010/main" val="1986947201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4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FFDA44ED-2B2F-C105-7D7D-E4658177E045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374900"/>
            <a:ext cx="5537200" cy="3619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400">
                <a:latin typeface="Helvetica Neue"/>
                <a:ea typeface="Helvetica Neue"/>
                <a:cs typeface="Helvetica Neue"/>
              </a:rPr>
              <a:t>Five-stage console keeps discovery, readiness, review, deployment, and follow-through in the same server context.</a:t>
            </a:r>
          </a:p>
          <a:p xmlns:a="http://schemas.openxmlformats.org/drawingml/2006/main">
            <a:pPr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400">
                <a:latin typeface="Helvetica Neue"/>
                <a:ea typeface="Helvetica Neue"/>
                <a:cs typeface="Helvetica Neue"/>
              </a:rPr>
              <a:t>Readiness exposes a fixed Docker / OS / Swarm / UFW plan.</a:t>
            </a:r>
          </a:p>
          <a:p xmlns:a="http://schemas.openxmlformats.org/drawingml/2006/main">
            <a:pPr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400">
                <a:latin typeface="Helvetica Neue"/>
                <a:ea typeface="Helvetica Neue"/>
                <a:cs typeface="Helvetica Neue"/>
              </a:rPr>
              <a:t>Duplicate unstarted actions are superseded only when action, server, and target match.</a:t>
            </a:r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ABCF34BB-5640-4672-FD7F-6F84F746453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02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>Current operating posture</a:t>
            </a:r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178194EC-C78C-2EFE-6956-F359C5D3CE66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lvl="0" indent="0" algn="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fld id="{CBAEABBA-AD62-52D1-5588-17C604158753}" type="slidenum">
              <a:rPr sz="1100" b="0" i="0" u="none" cap="none" spc="0">
                <a:ln>
                  <a:noFill/>
                </a:ln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02</a:t>
            </a:fld>
            <a:endParaRPr sz="1100" b="0" i="0" u="none" kern="1200" cap="none" spc="0" baseline="0">
              <a:ln>
                <a:noFill/>
              </a:ln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8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9FBD9FB5-CEB1-DE74-508A-B8814A28F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939" y="1810684"/>
            <a:ext cx="5529961" cy="22131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/>
              <a:buNone/>
            </a:pPr>
            <a:r>
              <a:rPr sz="1200" b="1" i="0" u="none" cap="none" spc="100">
                <a:ln>
                  <a:noFill/>
                </a:ln>
                <a:solidFill>
                  <a:srgbClr val="175CD4"/>
                </a:solidFill>
                <a:latin typeface="Helvetica Neue"/>
                <a:ea typeface="Helvetica Neue"/>
                <a:cs typeface="Helvetica Neue"/>
              </a:rPr>
              <a:t>HIGHLIGHTS</a:t>
            </a:r>
          </a:p>
        </p:txBody>
      </p:sp>
      <p:sp>
        <p:nvSpPr>
          <p:cNvPr id="9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07647231-C2F2-D9AD-E93B-483C88B8D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290" y="2374900"/>
            <a:ext cx="5537200" cy="3619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/>
              <a:buNone/>
            </a:pPr>
            <a:r>
              <a:rPr sz="1400" b="0" i="0" u="none" cap="none" spc="0">
                <a:ln>
                  <a:noFill/>
                </a:ln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No production or shared-host command was run for this change.</a:t>
            </a:r>
          </a:p>
          <a:p xmlns:a="http://schemas.openxmlformats.org/drawingml/2006/main">
            <a:pPr marL="228600" marR="0" lvl="0" indent="-22860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/>
              <a:buChar char="•"/>
            </a:pPr>
            <a:r>
              <a:rPr sz="1400" b="0" i="0" u="none" cap="none" spc="0">
                <a:ln>
                  <a:noFill/>
                </a:ln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The first host needs owner-approved controller and peer CIDRs.</a:t>
            </a:r>
          </a:p>
          <a:p xmlns:a="http://schemas.openxmlformats.org/drawingml/2006/main">
            <a:pPr marL="228600" marR="0" lvl="0" indent="-22860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/>
              <a:buChar char="•"/>
            </a:pPr>
            <a:r>
              <a:rPr sz="1400" b="0" i="0" u="none" cap="none" spc="0">
                <a:ln>
                  <a:noFill/>
                </a:ln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Workload ingress policy needs its own review alongside UFW.</a:t>
            </a:r>
          </a:p>
        </p:txBody>
      </p:sp>
      <p:sp>
        <p:nvSpPr>
          <p:cNvPr id="10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74A8EF0B-1ADC-C26F-1C3D-741467203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4529" y="1810684"/>
            <a:ext cx="5529961" cy="22131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/>
              <a:buNone/>
            </a:pPr>
            <a:r>
              <a:rPr sz="1200" b="1" i="0" u="none" cap="none" spc="100">
                <a:ln>
                  <a:noFill/>
                </a:ln>
                <a:solidFill>
                  <a:srgbClr val="175CD4"/>
                </a:solidFill>
                <a:latin typeface="Helvetica Neue"/>
                <a:ea typeface="Helvetica Neue"/>
                <a:cs typeface="Helvetica Neue"/>
              </a:rPr>
              <a:t>OPEN GATES</a:t>
            </a:r>
          </a:p>
        </p:txBody>
      </p:sp>
    </p:spTree>
    <p:extLst>
      <p:ext uri="{BB962C8B-B14F-4D97-AF65-F5344CB8AC3E}">
        <p14:creationId xmlns:p14="http://schemas.microsoft.com/office/powerpoint/2010/main" val="193305710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9E0BC934-0157-542C-D5BB-4CBBF257CC8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74184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>Non-negotiable operating boundaries</a:t>
            </a:r>
            <a:endParaRPr/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8319C0BA-A84A-2A07-E313-F86616F29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2309028"/>
            <a:ext cx="4583034" cy="10977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/>
              <a:buNone/>
            </a:pPr>
            <a:r>
              <a:rPr sz="1600" b="0" i="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Main agent has no browser shell path.</a:t>
            </a:r>
            <a:endParaRPr sz="1600" b="0" i="0" u="none" kern="1200" cap="none" spc="0" baseline="0">
              <a:ln>
                <a:noFill/>
              </a:ln>
              <a:solidFill>
                <a:prstClr val="black"/>
              </a:solidFill>
              <a:latin typeface="Helvetica Neue"/>
              <a:ea typeface="Helvetica Neue"/>
              <a:cs typeface="Helvetica Neue"/>
            </a:endParaRPr>
          </a:p>
          <a:p xmlns:a="http://schemas.openxmlformats.org/drawingml/2006/main"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/>
              <a:buNone/>
            </a:pPr>
            <a:r>
              <a:rPr sz="1600" b="0" i="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Readiness uses a private Unix socket.</a:t>
            </a:r>
            <a:endParaRPr sz="1600" b="0" i="0" u="none" kern="1200" cap="none" spc="0" baseline="0">
              <a:ln>
                <a:noFill/>
              </a:ln>
              <a:solidFill>
                <a:prstClr val="black"/>
              </a:solidFill>
              <a:latin typeface="Helvetica Neue"/>
              <a:ea typeface="Helvetica Neue"/>
              <a:cs typeface="Helvetica Neue"/>
            </a:endParaRPr>
          </a:p>
          <a:p xmlns:a="http://schemas.openxmlformats.org/drawingml/2006/main"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/>
              <a:buNone/>
            </a:pPr>
            <a:r>
              <a:rPr sz="1600" b="0" i="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Helper accepts one fixed request schema.</a:t>
            </a:r>
            <a:endParaRPr sz="1600" b="0" i="0" u="none" kern="1200" cap="none" spc="0" baseline="0">
              <a:ln>
                <a:noFill/>
              </a:ln>
              <a:solidFill>
                <a:prstClr val="black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C4C369A1-27DC-4417-B82E-882C775F892B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BADEEDC-EEE1-8597-0639-A35D9BA153EC}" type="slidenum">
              <a:t>03</a:t>
            </a:fld>
            <a:endParaRPr sz="1100"/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FF440E49-120F-1A2F-57EB-B02934562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8620" y="1881916"/>
            <a:ext cx="6329680" cy="16566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marL="285750" marR="0" lvl="0" indent="-28575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/>
              <a:buChar char="•"/>
            </a:pPr>
            <a:r>
              <a:rPr sz="1400" b="0" i="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No arbitrary command arguments.</a:t>
            </a:r>
          </a:p>
          <a:p xmlns:a="http://schemas.openxmlformats.org/drawingml/2006/main">
            <a:pPr marL="285750" marR="0" lvl="0" indent="-28575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/>
              <a:buChar char="•"/>
            </a:pPr>
            <a:r>
              <a:rPr sz="1400" b="0" i="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No host-level fallback when the helper is absent.</a:t>
            </a:r>
          </a:p>
          <a:p xmlns:a="http://schemas.openxmlformats.org/drawingml/2006/main">
            <a:pPr marL="285750" marR="0" lvl="0" indent="-28575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/>
              <a:buChar char="•"/>
            </a:pPr>
            <a:r>
              <a:rPr sz="1400" b="0" i="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Unsupported operating systems are blocked before work begins.</a:t>
            </a:r>
          </a:p>
        </p:txBody>
      </p:sp>
      <p:sp>
        <p:nvSpPr>
          <p:cNvPr id="2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61FF1B71-7343-3428-E1A5-01301745F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940" y="1881916"/>
            <a:ext cx="4583034" cy="22879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200" b="1" spc="100">
                <a:solidFill>
                  <a:schemeClr val="accent1"/>
                </a:solidFill>
                <a:latin typeface="Helvetica Neue"/>
                <a:ea typeface="Helvetica Neue"/>
                <a:cs typeface="Helvetica Neue"/>
              </a:rPr>
              <a:t>AGENT BOUNDARY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8E5C8191-FF5D-721C-939A-810BF6FFA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4622601"/>
            <a:ext cx="4583034" cy="10977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/>
              <a:buNone/>
            </a:pPr>
            <a:r>
              <a:rPr sz="1600" b="0" i="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Explicit selection only; no default ‘do everything.’</a:t>
            </a:r>
            <a:endParaRPr sz="1600" b="0" i="0" u="none" kern="1200" cap="none" spc="0" baseline="0">
              <a:ln>
                <a:noFill/>
              </a:ln>
              <a:solidFill>
                <a:prstClr val="black"/>
              </a:solidFill>
              <a:latin typeface="Helvetica Neue"/>
              <a:ea typeface="Helvetica Neue"/>
              <a:cs typeface="Helvetica Neue"/>
            </a:endParaRPr>
          </a:p>
          <a:p xmlns:a="http://schemas.openxmlformats.org/drawingml/2006/main"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/>
              <a:buNone/>
            </a:pPr>
            <a:r>
              <a:rPr sz="1600" b="0" i="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A confirmation phrase records intent.</a:t>
            </a:r>
            <a:endParaRPr sz="1600" b="0" i="0" u="none" kern="1200" cap="none" spc="0" baseline="0">
              <a:ln>
                <a:noFill/>
              </a:ln>
              <a:solidFill>
                <a:prstClr val="black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932FB920-4338-60DE-B515-40C9397AB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8620" y="4195489"/>
            <a:ext cx="6329680" cy="16566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marL="285750" marR="0" lvl="0" indent="-28575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/>
              <a:buChar char="•"/>
            </a:pPr>
            <a:r>
              <a:rPr sz="1400" b="0" i="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Queue state and audit events are written before acknowledgement.</a:t>
            </a:r>
          </a:p>
          <a:p xmlns:a="http://schemas.openxmlformats.org/drawingml/2006/main">
            <a:pPr marL="285750" marR="0" lvl="0" indent="-28575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/>
              <a:buChar char="•"/>
            </a:pPr>
            <a:r>
              <a:rPr sz="1400" b="0" i="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Running and attention-needed work is never discarded.</a:t>
            </a:r>
          </a:p>
        </p:txBody>
      </p:sp>
      <p:sp>
        <p:nvSpPr>
          <p:cNvPr id="12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88B171C2-7536-1E2D-C49E-6F245F448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940" y="4195489"/>
            <a:ext cx="4583034" cy="22879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200" b="1" spc="100">
                <a:solidFill>
                  <a:schemeClr val="accent1"/>
                </a:solidFill>
                <a:latin typeface="Helvetica Neue"/>
                <a:ea typeface="Helvetica Neue"/>
                <a:cs typeface="Helvetica Neue"/>
              </a:rPr>
              <a:t>OPERATOR BOUNDARY</a:t>
            </a:r>
          </a:p>
        </p:txBody>
      </p:sp>
    </p:spTree>
    <p:extLst>
      <p:ext uri="{BB962C8B-B14F-4D97-AF65-F5344CB8AC3E}">
        <p14:creationId xmlns:p14="http://schemas.microsoft.com/office/powerpoint/2010/main" val="4204513895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8B77B614-E3C4-8964-0877-92800631D48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699" y="344009"/>
            <a:ext cx="11404599" cy="5957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>From observation to proof</a:t>
            </a:r>
            <a:endParaRPr/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24774D92-572F-796B-CFA0-75F5BDE34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4412" y="2369856"/>
            <a:ext cx="5533887" cy="1638300"/>
          </a:xfrm>
          <a:prstGeom xmlns:a="http://schemas.openxmlformats.org/drawingml/2006/main" prst="roundRect">
            <a:avLst>
              <a:gd name="adj" fmla="val 3585"/>
            </a:avLst>
          </a:prstGeom>
          <a:solidFill xmlns:a="http://schemas.openxmlformats.org/drawingml/2006/main">
            <a:srgbClr val="F9FCFF"/>
          </a:solidFill>
          <a:ln xmlns:a="http://schemas.openxmlformats.org/drawingml/2006/main">
            <a:solidFill>
              <a:srgbClr val="EFF1F5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8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C0439ECA-9193-112F-E7E6-326447CEF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1647" y="2664788"/>
            <a:ext cx="4986886" cy="104843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0000"/>
              </a:lnSpc>
              <a:spcBef>
                <a:spcPts val="0"/>
              </a:spcBef>
              <a:buFontTx/>
              <a:buNone/>
            </a:pP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Plan</a:t>
            </a:r>
          </a:p>
          <a:p xmlns:a="http://schemas.openxmlformats.org/drawingml/2006/main"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FontTx/>
              <a:buNone/>
            </a:pP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Select only the required fixed operations.</a:t>
            </a:r>
          </a:p>
        </p:txBody>
      </p:sp>
      <p:sp>
        <p:nvSpPr>
          <p:cNvPr id="9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BED27E76-B721-E464-2478-718E91A64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043" y="2369856"/>
            <a:ext cx="5533887" cy="1638300"/>
          </a:xfrm>
          <a:prstGeom xmlns:a="http://schemas.openxmlformats.org/drawingml/2006/main" prst="roundRect">
            <a:avLst>
              <a:gd name="adj" fmla="val 3585"/>
            </a:avLst>
          </a:prstGeom>
          <a:solidFill xmlns:a="http://schemas.openxmlformats.org/drawingml/2006/main">
            <a:srgbClr val="F9FCFF"/>
          </a:solidFill>
          <a:ln xmlns:a="http://schemas.openxmlformats.org/drawingml/2006/main">
            <a:solidFill>
              <a:srgbClr val="EFF1F5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0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40DA34A0-E630-37E8-0332-0E57245DC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278" y="2664788"/>
            <a:ext cx="4986886" cy="104843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marR="0" lvl="0" indent="0" algn="l" defTabSz="9144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1600" b="0" i="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Observe</a:t>
            </a:r>
          </a:p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ClrTx/>
              <a:buSzTx/>
              <a:buFontTx/>
              <a:buNone/>
            </a:pPr>
            <a:r>
              <a:rPr sz="1600" b="0" i="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Detect OS, engine, Swarm, and firewall state.</a:t>
            </a:r>
          </a:p>
        </p:txBody>
      </p:sp>
      <p:sp>
        <p:nvSpPr>
          <p:cNvPr id="2" name="Rounded Rectangle 1">
            <a:extLst xmlns:a="http://schemas.openxmlformats.org/drawingml/2006/main">
              <a:ext uri="{FF2B5EF4-FFF2-40B4-BE49-F238E27FC236}">
                <a16:creationId xmlns:a16="http://schemas.microsoft.com/office/drawing/2014/main" id="{F421FB3D-82DC-94B6-ADD3-99BB3C8E5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4412" y="4370106"/>
            <a:ext cx="5533887" cy="1638300"/>
          </a:xfrm>
          <a:prstGeom xmlns:a="http://schemas.openxmlformats.org/drawingml/2006/main" prst="roundRect">
            <a:avLst>
              <a:gd name="adj" fmla="val 3585"/>
            </a:avLst>
          </a:prstGeom>
          <a:solidFill xmlns:a="http://schemas.openxmlformats.org/drawingml/2006/main">
            <a:srgbClr val="F9FCFF"/>
          </a:solidFill>
          <a:ln xmlns:a="http://schemas.openxmlformats.org/drawingml/2006/main">
            <a:solidFill>
              <a:srgbClr val="EFF1F5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9122C651-AF0B-D7E1-E9EF-3F4BC1C58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1647" y="4665038"/>
            <a:ext cx="4986886" cy="104843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0000"/>
              </a:lnSpc>
              <a:spcBef>
                <a:spcPts val="0"/>
              </a:spcBef>
              <a:buFontTx/>
              <a:buNone/>
            </a:pP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Verify</a:t>
            </a:r>
          </a:p>
          <a:p xmlns:a="http://schemas.openxmlformats.org/drawingml/2006/main"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FontTx/>
              <a:buNone/>
            </a:pP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Read result, audit trail, blockers, and next step.</a:t>
            </a:r>
          </a:p>
        </p:txBody>
      </p:sp>
      <p:sp>
        <p:nvSpPr>
          <p:cNvPr id="4" name="Rounded Rectangle 3">
            <a:extLst xmlns:a="http://schemas.openxmlformats.org/drawingml/2006/main">
              <a:ext uri="{FF2B5EF4-FFF2-40B4-BE49-F238E27FC236}">
                <a16:creationId xmlns:a16="http://schemas.microsoft.com/office/drawing/2014/main" id="{EDA590ED-3B5F-06BC-B0E9-C6DC4E8BB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043" y="4370106"/>
            <a:ext cx="5533887" cy="1638300"/>
          </a:xfrm>
          <a:prstGeom xmlns:a="http://schemas.openxmlformats.org/drawingml/2006/main" prst="roundRect">
            <a:avLst>
              <a:gd name="adj" fmla="val 3585"/>
            </a:avLst>
          </a:prstGeom>
          <a:solidFill xmlns:a="http://schemas.openxmlformats.org/drawingml/2006/main">
            <a:srgbClr val="F9FCFF"/>
          </a:solidFill>
          <a:ln xmlns:a="http://schemas.openxmlformats.org/drawingml/2006/main">
            <a:solidFill>
              <a:srgbClr val="EFF1F5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5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EB1BBBB3-DA5C-C3DF-7DD6-33AB7A853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278" y="4665038"/>
            <a:ext cx="4986886" cy="104843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0000"/>
              </a:lnSpc>
              <a:spcBef>
                <a:spcPts val="0"/>
              </a:spcBef>
              <a:buFontTx/>
              <a:buNone/>
            </a:pP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Queue</a:t>
            </a:r>
          </a:p>
          <a:p xmlns:a="http://schemas.openxmlformats.org/drawingml/2006/main"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FontTx/>
              <a:buNone/>
            </a:pP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Persist once; replace only an equivalent unstarted intent.</a:t>
            </a:r>
          </a:p>
        </p:txBody>
      </p:sp>
      <p:sp>
        <p:nvSpPr>
          <p:cNvPr id="6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04E6B723-686B-D8DD-4DA5-3E62BDE49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939" y="1057501"/>
            <a:ext cx="11404599" cy="1012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800">
                <a:solidFill>
                  <a:schemeClr val="accent1"/>
                </a:solidFill>
                <a:latin typeface="Helvetica Neue Medium"/>
                <a:ea typeface="Helvetica Neue Medium"/>
                <a:cs typeface="Helvetica Neue Medium"/>
              </a:rPr>
              <a:t>One page should answer: what is true now, what will change, what is queued, and what still blocks deployment.</a:t>
            </a:r>
          </a:p>
        </p:txBody>
      </p:sp>
      <p:sp>
        <p:nvSpPr>
          <p:cNvPr id="12" name="Slide Number Placeholder 11">
            <a:extLst xmlns:a="http://schemas.openxmlformats.org/drawingml/2006/main">
              <a:ext uri="{FF2B5EF4-FFF2-40B4-BE49-F238E27FC236}">
                <a16:creationId xmlns:a16="http://schemas.microsoft.com/office/drawing/2014/main" id="{24C9B83B-D496-749A-8CAB-E5D5829B608E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9970F6C-59B2-055B-5132-2DC31A7003A7}" type="slidenum">
              <a:t>04</a:t>
            </a:fld>
            <a:endParaRPr sz="1100"/>
          </a:p>
        </p:txBody>
      </p:sp>
    </p:spTree>
    <p:extLst>
      <p:ext uri="{BB962C8B-B14F-4D97-AF65-F5344CB8AC3E}">
        <p14:creationId xmlns:p14="http://schemas.microsoft.com/office/powerpoint/2010/main" val="1766000242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itle 7">
            <a:extLst xmlns:a="http://schemas.openxmlformats.org/drawingml/2006/main">
              <a:ext uri="{FF2B5EF4-FFF2-40B4-BE49-F238E27FC236}">
                <a16:creationId xmlns:a16="http://schemas.microsoft.com/office/drawing/2014/main" id="{0DED229D-8FB1-A98B-48DE-0F84D8CCFC1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7838597" cy="636409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Three controls keep host readiness narrow</a:t>
            </a:r>
          </a:p>
        </p:txBody>
      </p:sp>
      <p:sp>
        <p:nvSpPr>
          <p:cNvPr id="5" name="Rounded Rectangle 4">
            <a:extLst xmlns:a="http://schemas.openxmlformats.org/drawingml/2006/main">
              <a:ext uri="{FF2B5EF4-FFF2-40B4-BE49-F238E27FC236}">
                <a16:creationId xmlns:a16="http://schemas.microsoft.com/office/drawing/2014/main" id="{BC769086-2F0B-B36D-7560-45B38E874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2374900"/>
            <a:ext cx="3568700" cy="3619500"/>
          </a:xfrm>
          <a:prstGeom xmlns:a="http://schemas.openxmlformats.org/drawingml/2006/main" prst="roundRect">
            <a:avLst>
              <a:gd name="adj" fmla="val 3585"/>
            </a:avLst>
          </a:prstGeom>
          <a:solidFill xmlns:a="http://schemas.openxmlformats.org/drawingml/2006/main">
            <a:srgbClr val="F9FCFF"/>
          </a:solidFill>
          <a:ln xmlns:a="http://schemas.openxmlformats.org/drawingml/2006/main">
            <a:solidFill>
              <a:srgbClr val="EFF1F5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6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44B4F040-FAA4-CBA4-C03F-67330800E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1650" y="2374900"/>
            <a:ext cx="3568700" cy="3619500"/>
          </a:xfrm>
          <a:prstGeom xmlns:a="http://schemas.openxmlformats.org/drawingml/2006/main" prst="roundRect">
            <a:avLst>
              <a:gd name="adj" fmla="val 3585"/>
            </a:avLst>
          </a:prstGeom>
          <a:solidFill xmlns:a="http://schemas.openxmlformats.org/drawingml/2006/main">
            <a:srgbClr val="F9FCFF"/>
          </a:solidFill>
          <a:ln xmlns:a="http://schemas.openxmlformats.org/drawingml/2006/main">
            <a:solidFill>
              <a:srgbClr val="EFF1F5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53282E3A-FC17-B9FF-87A4-5434FC27D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2297" y="2374900"/>
            <a:ext cx="3568700" cy="3619500"/>
          </a:xfrm>
          <a:prstGeom xmlns:a="http://schemas.openxmlformats.org/drawingml/2006/main" prst="roundRect">
            <a:avLst>
              <a:gd name="adj" fmla="val 3585"/>
            </a:avLst>
          </a:prstGeom>
          <a:solidFill xmlns:a="http://schemas.openxmlformats.org/drawingml/2006/main">
            <a:srgbClr val="F9FCFF"/>
          </a:solidFill>
          <a:ln xmlns:a="http://schemas.openxmlformats.org/drawingml/2006/main">
            <a:solidFill>
              <a:srgbClr val="EFF1F5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9" name="Content Placeholder 8">
            <a:extLst xmlns:a="http://schemas.openxmlformats.org/drawingml/2006/main">
              <a:ext uri="{FF2B5EF4-FFF2-40B4-BE49-F238E27FC236}">
                <a16:creationId xmlns:a16="http://schemas.microsoft.com/office/drawing/2014/main" id="{A2E4F352-DEC2-5D62-627F-FCEDE8897877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703381" y="2779935"/>
            <a:ext cx="2949339" cy="2566766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/>
              <a:buNone/>
            </a:pPr>
            <a:r>
              <a:rPr sz="1800" b="0" i="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Pinned identity</a:t>
            </a:r>
          </a:p>
          <a:p xmlns:a="http://schemas.openxmlformats.org/drawingml/2006/main"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/>
              <a:buNone/>
            </a:pPr>
            <a:r>
              <a:rPr sz="1800" b="0" i="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The agent verifies controller identity and calls only its enrollment endpoint.</a:t>
            </a:r>
            <a:endParaRPr/>
          </a:p>
        </p:txBody>
      </p:sp>
      <p:sp>
        <p:nvSpPr>
          <p:cNvPr id="10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39F8FFA6-07EE-FB23-ECDF-907422B2BA20}"/>
              </a:ext>
            </a:extLst>
          </p:cNvPr>
          <p:cNvSpPr>
            <a:spLocks xmlns:a="http://schemas.openxmlformats.org/drawingml/2006/main" noGrp="1"/>
          </p:cNvSpPr>
          <p:nvPr>
            <p:ph idx="10"/>
          </p:nvPr>
        </p:nvSpPr>
        <p:spPr>
          <a:xfrm xmlns:a="http://schemas.openxmlformats.org/drawingml/2006/main">
            <a:off x="4627681" y="2779935"/>
            <a:ext cx="2949339" cy="2566766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0" lv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Private escalation</a:t>
            </a:r>
          </a:p>
          <a:p xmlns:a="http://schemas.openxmlformats.org/drawingml/2006/main">
            <a:pPr marL="0" lv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Root work is behind a local Unix socket, not an exposed remote control channel.</a:t>
            </a:r>
            <a:endParaRPr sz="1800"/>
          </a:p>
        </p:txBody>
      </p:sp>
      <p:sp>
        <p:nvSpPr>
          <p:cNvPr id="11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3FA7F576-9166-371F-C253-9344F3BA9E13}"/>
              </a:ext>
            </a:extLst>
          </p:cNvPr>
          <p:cNvSpPr>
            <a:spLocks xmlns:a="http://schemas.openxmlformats.org/drawingml/2006/main" noGrp="1"/>
          </p:cNvSpPr>
          <p:nvPr>
            <p:ph idx="11"/>
          </p:nvPr>
        </p:nvSpPr>
        <p:spPr>
          <a:xfrm xmlns:a="http://schemas.openxmlformats.org/drawingml/2006/main">
            <a:off x="8541954" y="2779935"/>
            <a:ext cx="2949339" cy="2566766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0" lv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Fixed-shape operations</a:t>
            </a:r>
          </a:p>
          <a:p xmlns:a="http://schemas.openxmlformats.org/drawingml/2006/main">
            <a:pPr marL="0" lv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Docker, OS, Swarm, and UFW parameters are validated before reaching the helper.</a:t>
            </a:r>
            <a:endParaRPr sz="1800"/>
          </a:p>
        </p:txBody>
      </p:sp>
      <p:sp>
        <p:nvSpPr>
          <p:cNvPr id="2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46459F02-532C-26D9-1417-D97C7C8B1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939" y="1037593"/>
            <a:ext cx="11404599" cy="10402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800">
                <a:solidFill>
                  <a:schemeClr val="accent1"/>
                </a:solidFill>
                <a:latin typeface="Helvetica Neue Medium"/>
                <a:ea typeface="Helvetica Neue Medium"/>
                <a:cs typeface="Helvetica Neue Medium"/>
              </a:rPr>
              <a:t>Each control is visible in the product. Together they make host change a reviewed operational workflow instead of a browser command box.</a:t>
            </a:r>
          </a:p>
        </p:txBody>
      </p:sp>
      <p:sp>
        <p:nvSpPr>
          <p:cNvPr id="12" name="Slide Number Placeholder 11">
            <a:extLst xmlns:a="http://schemas.openxmlformats.org/drawingml/2006/main">
              <a:ext uri="{FF2B5EF4-FFF2-40B4-BE49-F238E27FC236}">
                <a16:creationId xmlns:a16="http://schemas.microsoft.com/office/drawing/2014/main" id="{6C4609E9-0A0F-C12B-2A4D-B112D25BA18E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370F4AC-E6D1-01EE-6732-05F7C8E78B55}" type="slidenum">
              <a:t>05</a:t>
            </a:fld>
            <a:endParaRPr sz="1100"/>
          </a:p>
        </p:txBody>
      </p:sp>
    </p:spTree>
    <p:extLst>
      <p:ext uri="{BB962C8B-B14F-4D97-AF65-F5344CB8AC3E}">
        <p14:creationId xmlns:p14="http://schemas.microsoft.com/office/powerpoint/2010/main" val="110757969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7CD0B058-69B3-6143-3EBD-18BD8981044D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>
                <a:latin typeface="Helvetica Neue"/>
                <a:ea typeface="Helvetica Neue"/>
                <a:cs typeface="Helvetica Neue"/>
              </a:rPr>
              <a:t>Host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>
                <a:latin typeface="Helvetica Neue"/>
                <a:ea typeface="Helvetica Neue"/>
                <a:cs typeface="Helvetica Neue"/>
              </a:rPr>
              <a:t>Debian / Ubuntu supported</a:t>
            </a:r>
          </a:p>
        </p:txBody>
      </p:sp>
      <p:sp>
        <p:nvSpPr>
          <p:cNvPr id="11" name="Title 10">
            <a:extLst xmlns:a="http://schemas.openxmlformats.org/drawingml/2006/main">
              <a:ext uri="{FF2B5EF4-FFF2-40B4-BE49-F238E27FC236}">
                <a16:creationId xmlns:a16="http://schemas.microsoft.com/office/drawing/2014/main" id="{EE0017B1-61AD-F17E-4365-4C536650269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9"/>
            <a:ext cx="7835900" cy="104029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First-host proof checklist</a:t>
            </a:r>
          </a:p>
        </p:txBody>
      </p:sp>
      <p:sp>
        <p:nvSpPr>
          <p:cNvPr id="17" name="Text Placeholder 16">
            <a:extLst xmlns:a="http://schemas.openxmlformats.org/drawingml/2006/main">
              <a:ext uri="{FF2B5EF4-FFF2-40B4-BE49-F238E27FC236}">
                <a16:creationId xmlns:a16="http://schemas.microsoft.com/office/drawing/2014/main" id="{B0668A09-AE04-4D10-D919-57ECE29CD5EA}"/>
              </a:ext>
            </a:extLst>
          </p:cNvPr>
          <p:cNvSpPr>
            <a:spLocks xmlns:a="http://schemas.openxmlformats.org/drawingml/2006/main" noGrp="1"/>
          </p:cNvSpPr>
          <p:nvPr>
            <p:ph type="body" idx="12"/>
          </p:nvPr>
        </p:nvSpPr>
        <p:spPr/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/>
              <a:buNone/>
            </a:pPr>
            <a:r>
              <a:rPr sz="1600" b="0" i="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CIDRs</a:t>
            </a:r>
          </a:p>
          <a:p xmlns:a="http://schemas.openxmlformats.org/drawingml/2006/main"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/>
              <a:buNone/>
            </a:pPr>
            <a:r>
              <a:rPr sz="1600" b="0" i="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Controller + peers approved</a:t>
            </a:r>
          </a:p>
        </p:txBody>
      </p:sp>
      <p:sp>
        <p:nvSpPr>
          <p:cNvPr id="18" name="Content Placeholder 17">
            <a:extLst xmlns:a="http://schemas.openxmlformats.org/drawingml/2006/main">
              <a:ext uri="{FF2B5EF4-FFF2-40B4-BE49-F238E27FC236}">
                <a16:creationId xmlns:a16="http://schemas.microsoft.com/office/drawing/2014/main" id="{CC1BC07A-CC6E-9DC4-2C70-CCF4F96B0F92}"/>
              </a:ext>
            </a:extLst>
          </p:cNvPr>
          <p:cNvSpPr>
            <a:spLocks xmlns:a="http://schemas.openxmlformats.org/drawingml/2006/main" noGrp="1"/>
          </p:cNvSpPr>
          <p:nvPr>
            <p:ph idx="13"/>
          </p:nvPr>
        </p:nvSpPr>
        <p:spPr/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/>
              <a:buNone/>
            </a:pPr>
            <a:r>
              <a:rPr b="0" i="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Agent</a:t>
            </a:r>
          </a:p>
          <a:p xmlns:a="http://schemas.openxmlformats.org/drawingml/2006/main"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/>
              <a:buNone/>
            </a:pPr>
            <a:r>
              <a:rPr b="0" i="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Provisioner socket healthy</a:t>
            </a:r>
          </a:p>
        </p:txBody>
      </p:sp>
      <p:sp>
        <p:nvSpPr>
          <p:cNvPr id="19" name="Text Placeholder 18">
            <a:extLst xmlns:a="http://schemas.openxmlformats.org/drawingml/2006/main">
              <a:ext uri="{FF2B5EF4-FFF2-40B4-BE49-F238E27FC236}">
                <a16:creationId xmlns:a16="http://schemas.microsoft.com/office/drawing/2014/main" id="{3437E985-0C72-7D72-6091-7E6FBAF26D6E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/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/>
              <a:buNone/>
            </a:pPr>
            <a:r>
              <a:rPr sz="1600" b="0" i="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Plan</a:t>
            </a:r>
          </a:p>
          <a:p xmlns:a="http://schemas.openxmlformats.org/drawingml/2006/main"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/>
              <a:buNone/>
            </a:pPr>
            <a:r>
              <a:rPr sz="1600" b="0" i="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Only selected work</a:t>
            </a:r>
          </a:p>
        </p:txBody>
      </p:sp>
      <p:sp>
        <p:nvSpPr>
          <p:cNvPr id="2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618AB53F-D83E-C97D-48FB-E643E6A74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2828977"/>
            <a:ext cx="2595934" cy="1168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>
                <a:latin typeface="Helvetica Neue"/>
                <a:ea typeface="Helvetica Neue"/>
                <a:cs typeface="Helvetica Neue"/>
              </a:rPr>
              <a:t>Queue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>
                <a:latin typeface="Helvetica Neue"/>
                <a:ea typeface="Helvetica Neue"/>
                <a:cs typeface="Helvetica Neue"/>
              </a:rPr>
              <a:t>Payload persisted</a:t>
            </a:r>
          </a:p>
        </p:txBody>
      </p:sp>
      <p:sp>
        <p:nvSpPr>
          <p:cNvPr id="3" name="Text Placeholder 16">
            <a:extLst xmlns:a="http://schemas.openxmlformats.org/drawingml/2006/main">
              <a:ext uri="{FF2B5EF4-FFF2-40B4-BE49-F238E27FC236}">
                <a16:creationId xmlns:a16="http://schemas.microsoft.com/office/drawing/2014/main" id="{15B6FC25-43EA-8D50-20ED-40A075FCB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4966" y="2828977"/>
            <a:ext cx="2595934" cy="1168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UFW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SSH + control ports reachable</a:t>
            </a:r>
          </a:p>
        </p:txBody>
      </p:sp>
      <p:sp>
        <p:nvSpPr>
          <p:cNvPr id="5" name="Content Placeholder 17">
            <a:extLst xmlns:a="http://schemas.openxmlformats.org/drawingml/2006/main">
              <a:ext uri="{FF2B5EF4-FFF2-40B4-BE49-F238E27FC236}">
                <a16:creationId xmlns:a16="http://schemas.microsoft.com/office/drawing/2014/main" id="{DC86E5BF-3A43-49E0-A1B8-916150355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4413" y="2828977"/>
            <a:ext cx="2595934" cy="1168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Result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Status refreshed</a:t>
            </a:r>
          </a:p>
        </p:txBody>
      </p:sp>
      <p:sp>
        <p:nvSpPr>
          <p:cNvPr id="6" name="Text Placeholder 18">
            <a:extLst xmlns:a="http://schemas.openxmlformats.org/drawingml/2006/main">
              <a:ext uri="{FF2B5EF4-FFF2-40B4-BE49-F238E27FC236}">
                <a16:creationId xmlns:a16="http://schemas.microsoft.com/office/drawing/2014/main" id="{941D607D-4DDA-372A-EE8A-A370B36C7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5679" y="2828977"/>
            <a:ext cx="2595934" cy="1168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Recovery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Reviewer confirms path</a:t>
            </a:r>
          </a:p>
        </p:txBody>
      </p:sp>
      <p:sp>
        <p:nvSpPr>
          <p:cNvPr id="8" name="Slide Number Placeholder 7">
            <a:extLst xmlns:a="http://schemas.openxmlformats.org/drawingml/2006/main">
              <a:ext uri="{FF2B5EF4-FFF2-40B4-BE49-F238E27FC236}">
                <a16:creationId xmlns:a16="http://schemas.microsoft.com/office/drawing/2014/main" id="{A2DC3E09-5458-5FAC-7B68-A9CC33D48CC0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9BFB0FA-5DC7-50DB-D53A-0B6D0E34987E}" type="slidenum">
              <a:t>06</a:t>
            </a:fld>
            <a:endParaRPr sz="1100"/>
          </a:p>
        </p:txBody>
      </p:sp>
    </p:spTree>
    <p:extLst>
      <p:ext uri="{BB962C8B-B14F-4D97-AF65-F5344CB8AC3E}">
        <p14:creationId xmlns:p14="http://schemas.microsoft.com/office/powerpoint/2010/main" val="343078930"/>
      </p:ext>
    </p:extLst>
  </p:cSld>
</p:sld>
</file>

<file path=ppt/slides/slide7.xml><?xml version="1.0" encoding="utf-8"?>
<p:sld xmlns:p="http://schemas.openxmlformats.org/presentationml/2006/main">
  <p:cSld>
    <p:bg>
      <p:bgPr>
        <a:gradFill xmlns:a="http://schemas.openxmlformats.org/drawingml/2006/main" rotWithShape="1">
          <a:gsLst>
            <a:gs pos="0">
              <a:srgbClr val="0C3666"/>
            </a:gs>
            <a:gs pos="100000">
              <a:srgbClr val="061C39"/>
            </a:gs>
          </a:gsLst>
          <a:lin ang="13500000" scaled="1"/>
          <a:tileRect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 3">
            <a:extLst xmlns:a="http://schemas.openxmlformats.org/drawingml/2006/main">
              <a:ext uri="{FF2B5EF4-FFF2-40B4-BE49-F238E27FC236}">
                <a16:creationId xmlns:a16="http://schemas.microsoft.com/office/drawing/2014/main" id="{0F24658D-7578-8E1B-095D-2634178665BE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384537" y="1850746"/>
            <a:ext cx="9448800" cy="2491490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r>
              <a:rPr sz="6500">
                <a:solidFill>
                  <a:schemeClr val="accent3"/>
                </a:solidFill>
              </a:rPr>
              <a:t>Ready for a controlled maintenance-window trial</a:t>
            </a:r>
          </a:p>
        </p:txBody>
      </p:sp>
      <p:sp>
        <p:nvSpPr>
          <p:cNvPr id="5" name="Subtitle 4">
            <a:extLst xmlns:a="http://schemas.openxmlformats.org/drawingml/2006/main">
              <a:ext uri="{FF2B5EF4-FFF2-40B4-BE49-F238E27FC236}">
                <a16:creationId xmlns:a16="http://schemas.microsoft.com/office/drawing/2014/main" id="{9CFCDDD1-6B62-D648-FCD8-F519A8EBFE03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393700" y="5170707"/>
            <a:ext cx="3568700" cy="647700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r>
              <a:rPr sz="1800">
                <a:solidFill>
                  <a:schemeClr val="bg2">
                    <a:lumMod val="75000"/>
                  </a:schemeClr>
                </a:solidFill>
              </a:rPr>
              <a:t>The remaining work is evidence gathering on one non-critical host—not an open-ended rollout.</a:t>
            </a:r>
          </a:p>
        </p:txBody>
      </p:sp>
      <p:sp>
        <p:nvSpPr>
          <p:cNvPr id="2" name="Subtitle 4">
            <a:extLst xmlns:a="http://schemas.openxmlformats.org/drawingml/2006/main">
              <a:ext uri="{FF2B5EF4-FFF2-40B4-BE49-F238E27FC236}">
                <a16:creationId xmlns:a16="http://schemas.microsoft.com/office/drawing/2014/main" id="{7DE36FE5-F5E6-DBA2-7BCD-BDE05B2A1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0789" y="5170707"/>
            <a:ext cx="35687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r>
              <a:rPr sz="1800">
                <a:solidFill>
                  <a:schemeClr val="bg2">
                    <a:lumMod val="75000"/>
                  </a:schemeClr>
                </a:solidFill>
              </a:rPr>
              <a:t>Nim Platform</a:t>
            </a:r>
          </a:p>
        </p:txBody>
      </p:sp>
      <p:sp>
        <p:nvSpPr>
          <p:cNvPr id="3" name="Subtitle 4">
            <a:extLst xmlns:a="http://schemas.openxmlformats.org/drawingml/2006/main">
              <a:ext uri="{FF2B5EF4-FFF2-40B4-BE49-F238E27FC236}">
                <a16:creationId xmlns:a16="http://schemas.microsoft.com/office/drawing/2014/main" id="{1855E0C5-A5E4-590B-0D77-15A6F24D0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8228" y="623595"/>
            <a:ext cx="3199235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algn="r">
              <a:buNone/>
            </a:pPr>
            <a:r>
              <a:rPr sz="1800">
                <a:solidFill>
                  <a:srgbClr val="EDF5FE">
                    <a:alpha val="50000"/>
                  </a:srgbClr>
                </a:solidFill>
                <a:latin typeface="Helvetica Neue"/>
                <a:ea typeface="Helvetica Neue"/>
                <a:cs typeface="Helvetica Neue"/>
              </a:rPr>
              <a:t>NEXT REVIEW</a:t>
            </a:r>
          </a:p>
        </p:txBody>
      </p:sp>
      <p:sp>
        <p:nvSpPr>
          <p:cNvPr id="7" name="Subtitle 4">
            <a:extLst xmlns:a="http://schemas.openxmlformats.org/drawingml/2006/main">
              <a:ext uri="{FF2B5EF4-FFF2-40B4-BE49-F238E27FC236}">
                <a16:creationId xmlns:a16="http://schemas.microsoft.com/office/drawing/2014/main" id="{5794C0B2-4912-64A0-21CF-60B66252E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623595"/>
            <a:ext cx="5537200" cy="64915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>
              <a:buNone/>
            </a:pPr>
            <a:r>
              <a:rPr sz="1800">
                <a:solidFill>
                  <a:srgbClr val="EDF5FE">
                    <a:alpha val="50000"/>
                  </a:srgbClr>
                </a:solidFill>
                <a:latin typeface="Helvetica Neue"/>
                <a:ea typeface="Helvetica Neue"/>
                <a:cs typeface="Helvetica Neue"/>
              </a:rPr>
              <a:t>SwarmOps</a:t>
            </a:r>
          </a:p>
        </p:txBody>
      </p:sp>
      <p:sp>
        <p:nvSpPr>
          <p:cNvPr id="8" name="Straight Connector 7">
            <a:extLst xmlns:a="http://schemas.openxmlformats.org/drawingml/2006/main">
              <a:ext uri="{FF2B5EF4-FFF2-40B4-BE49-F238E27FC236}">
                <a16:creationId xmlns:a16="http://schemas.microsoft.com/office/drawing/2014/main" id="{2C44CC9A-9965-4409-A701-AC4DB42AF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537" y="374574"/>
            <a:ext cx="11422926" cy="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rgbClr val="7A8CA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</p:spTree>
    <p:extLst>
      <p:ext uri="{BB962C8B-B14F-4D97-AF65-F5344CB8AC3E}">
        <p14:creationId xmlns:p14="http://schemas.microsoft.com/office/powerpoint/2010/main" val="1986947201"/>
      </p:ext>
    </p:extLst>
  </p:cSld>
</p:sld>
</file>

<file path=ppt/theme/theme1.xml><?xml version="1.0" encoding="utf-8"?>
<a:theme xmlns:a="http://schemas.openxmlformats.org/drawingml/2006/main" name="Default Codex Theme">
  <a:themeElements>
    <a:clrScheme name="BOT Color Palette 2026">
      <a:dk1>
        <a:srgbClr val="000000"/>
      </a:dk1>
      <a:lt1>
        <a:srgbClr val="FFFFFF"/>
      </a:lt1>
      <a:dk2>
        <a:srgbClr val="08284F"/>
      </a:dk2>
      <a:lt2>
        <a:srgbClr val="F9FCFF"/>
      </a:lt2>
      <a:accent1>
        <a:srgbClr val="175CD4"/>
      </a:accent1>
      <a:accent2>
        <a:srgbClr val="0B3668"/>
      </a:accent2>
      <a:accent3>
        <a:srgbClr val="EDF5FE"/>
      </a:accent3>
      <a:accent4>
        <a:srgbClr val="7E91A8"/>
      </a:accent4>
      <a:accent5>
        <a:srgbClr val="004142"/>
      </a:accent5>
      <a:accent6>
        <a:srgbClr val="407879"/>
      </a:accent6>
      <a:hlink>
        <a:srgbClr val="00ABFF"/>
      </a:hlink>
      <a:folHlink>
        <a:srgbClr val="430942"/>
      </a:folHlink>
    </a:clrScheme>
    <a:fontScheme name="Helvetica Neue">
      <a:majorFont>
        <a:latin typeface="Helvetica Neue"/>
        <a:ea typeface=""/>
        <a:cs typeface=""/>
      </a:majorFont>
      <a:minorFont>
        <a:latin typeface="Helvetica Neu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2026-08-25T23:26:34.1070000Z</dcterms:created>
  <dcterms:modified xsi:type="dcterms:W3CDTF">2026-08-25T23:26:34.1070000Z</dcterms:modified>
</coreProperties>
</file>